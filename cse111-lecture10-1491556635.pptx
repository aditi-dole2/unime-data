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 id="2147483708" r:id="rId3"/>
  </p:sldMasterIdLst>
  <p:notesMasterIdLst>
    <p:notesMasterId r:id="rId45"/>
  </p:notesMasterIdLst>
  <p:sldIdLst>
    <p:sldId id="341" r:id="rId4"/>
    <p:sldId id="281" r:id="rId5"/>
    <p:sldId id="266" r:id="rId6"/>
    <p:sldId id="267" r:id="rId7"/>
    <p:sldId id="305" r:id="rId8"/>
    <p:sldId id="306" r:id="rId9"/>
    <p:sldId id="307" r:id="rId10"/>
    <p:sldId id="308" r:id="rId11"/>
    <p:sldId id="309" r:id="rId12"/>
    <p:sldId id="310" r:id="rId13"/>
    <p:sldId id="311" r:id="rId14"/>
    <p:sldId id="312" r:id="rId15"/>
    <p:sldId id="318" r:id="rId16"/>
    <p:sldId id="319" r:id="rId17"/>
    <p:sldId id="320" r:id="rId18"/>
    <p:sldId id="322" r:id="rId19"/>
    <p:sldId id="324" r:id="rId20"/>
    <p:sldId id="323" r:id="rId21"/>
    <p:sldId id="313" r:id="rId22"/>
    <p:sldId id="316" r:id="rId23"/>
    <p:sldId id="315" r:id="rId24"/>
    <p:sldId id="314" r:id="rId25"/>
    <p:sldId id="317" r:id="rId26"/>
    <p:sldId id="300" r:id="rId27"/>
    <p:sldId id="325" r:id="rId28"/>
    <p:sldId id="302" r:id="rId29"/>
    <p:sldId id="304" r:id="rId30"/>
    <p:sldId id="326" r:id="rId31"/>
    <p:sldId id="303" r:id="rId32"/>
    <p:sldId id="327" r:id="rId33"/>
    <p:sldId id="328" r:id="rId34"/>
    <p:sldId id="329" r:id="rId35"/>
    <p:sldId id="330" r:id="rId36"/>
    <p:sldId id="331" r:id="rId37"/>
    <p:sldId id="332" r:id="rId38"/>
    <p:sldId id="333" r:id="rId39"/>
    <p:sldId id="334" r:id="rId40"/>
    <p:sldId id="335" r:id="rId41"/>
    <p:sldId id="336" r:id="rId42"/>
    <p:sldId id="337" r:id="rId43"/>
    <p:sldId id="338" r:id="rId4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2585" autoAdjust="0"/>
  </p:normalViewPr>
  <p:slideViewPr>
    <p:cSldViewPr>
      <p:cViewPr varScale="1">
        <p:scale>
          <a:sx n="105" d="100"/>
          <a:sy n="105" d="100"/>
        </p:scale>
        <p:origin x="117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2" d="100"/>
        <a:sy n="8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52A3D405-DC57-4690-BD88-C64F75A632DC}" type="datetimeFigureOut">
              <a:rPr lang="en-US" smtClean="0"/>
              <a:t>5/12/23</a:t>
            </a:fld>
            <a:endParaRPr lang="en-US" dirty="0"/>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F567754-10BA-4605-A6D2-AE15F54EC208}" type="slidenum">
              <a:rPr lang="en-US" smtClean="0"/>
              <a:t>‹N›</a:t>
            </a:fld>
            <a:endParaRPr lang="en-US" dirty="0"/>
          </a:p>
        </p:txBody>
      </p:sp>
    </p:spTree>
    <p:extLst>
      <p:ext uri="{BB962C8B-B14F-4D97-AF65-F5344CB8AC3E}">
        <p14:creationId xmlns:p14="http://schemas.microsoft.com/office/powerpoint/2010/main" val="3268416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BC2C10-FAD9-4442-9528-D6D6F9AF6595}"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349680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a:t>
            </a:fld>
            <a:endParaRPr lang="en-US" dirty="0"/>
          </a:p>
        </p:txBody>
      </p:sp>
    </p:spTree>
    <p:extLst>
      <p:ext uri="{BB962C8B-B14F-4D97-AF65-F5344CB8AC3E}">
        <p14:creationId xmlns:p14="http://schemas.microsoft.com/office/powerpoint/2010/main" val="3883004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dirty="0">
                <a:latin typeface="Times New Roman" panose="02020603050405020304" pitchFamily="18" charset="0"/>
                <a:cs typeface="Times New Roman" panose="02020603050405020304" pitchFamily="18" charset="0"/>
              </a:rPr>
              <a:t>Every function has the same structure. For example, SUM(A1:A4). The name of this function is SUM. The part between the brackets (</a:t>
            </a:r>
            <a:r>
              <a:rPr lang="en-US" i="1" dirty="0">
                <a:latin typeface="Times New Roman" panose="02020603050405020304" pitchFamily="18" charset="0"/>
                <a:cs typeface="Times New Roman" panose="02020603050405020304" pitchFamily="18" charset="0"/>
              </a:rPr>
              <a:t>arguments</a:t>
            </a:r>
            <a:r>
              <a:rPr lang="en-US" dirty="0">
                <a:latin typeface="Times New Roman" panose="02020603050405020304" pitchFamily="18" charset="0"/>
                <a:cs typeface="Times New Roman" panose="02020603050405020304" pitchFamily="18" charset="0"/>
              </a:rPr>
              <a:t>) means we give Excel the range A1:A4 as input. This function adds the values in cells A1, A2, A3 and A4. It's not easy to remember which function and which arguments to use for each task. Fortunately, the Insert Function feature in Excel helps you with this.</a:t>
            </a:r>
          </a:p>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19</a:t>
            </a:fld>
            <a:endParaRPr lang="en-US" dirty="0"/>
          </a:p>
        </p:txBody>
      </p:sp>
    </p:spTree>
    <p:extLst>
      <p:ext uri="{BB962C8B-B14F-4D97-AF65-F5344CB8AC3E}">
        <p14:creationId xmlns:p14="http://schemas.microsoft.com/office/powerpoint/2010/main" val="295151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dirty="0">
                <a:latin typeface="Times New Roman" panose="02020603050405020304" pitchFamily="18" charset="0"/>
                <a:cs typeface="Times New Roman" panose="02020603050405020304" pitchFamily="18" charset="0"/>
              </a:rPr>
              <a:t>Every function has the same structure. For example, SUM(A1:A4). The name of this function is SUM. The part between the brackets (</a:t>
            </a:r>
            <a:r>
              <a:rPr lang="en-US" i="1" dirty="0">
                <a:latin typeface="Times New Roman" panose="02020603050405020304" pitchFamily="18" charset="0"/>
                <a:cs typeface="Times New Roman" panose="02020603050405020304" pitchFamily="18" charset="0"/>
              </a:rPr>
              <a:t>arguments</a:t>
            </a:r>
            <a:r>
              <a:rPr lang="en-US" dirty="0">
                <a:latin typeface="Times New Roman" panose="02020603050405020304" pitchFamily="18" charset="0"/>
                <a:cs typeface="Times New Roman" panose="02020603050405020304" pitchFamily="18" charset="0"/>
              </a:rPr>
              <a:t>) means we give Excel the range A1:A4 as input. This function adds the values in cells A1, A2, A3 and A4. It's not easy to remember which function and which arguments to use for each task. Fortunately, the Insert Function feature in Excel helps you with this.</a:t>
            </a:r>
          </a:p>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20</a:t>
            </a:fld>
            <a:endParaRPr lang="en-US" dirty="0"/>
          </a:p>
        </p:txBody>
      </p:sp>
    </p:spTree>
    <p:extLst>
      <p:ext uri="{BB962C8B-B14F-4D97-AF65-F5344CB8AC3E}">
        <p14:creationId xmlns:p14="http://schemas.microsoft.com/office/powerpoint/2010/main" val="295151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dirty="0">
                <a:latin typeface="Times New Roman" panose="02020603050405020304" pitchFamily="18" charset="0"/>
                <a:cs typeface="Times New Roman" panose="02020603050405020304" pitchFamily="18" charset="0"/>
              </a:rPr>
              <a:t>Every function has the same structure. For example, SUM(A1:A4). The name of this function is SUM. The part between the brackets (</a:t>
            </a:r>
            <a:r>
              <a:rPr lang="en-US" i="1" dirty="0">
                <a:latin typeface="Times New Roman" panose="02020603050405020304" pitchFamily="18" charset="0"/>
                <a:cs typeface="Times New Roman" panose="02020603050405020304" pitchFamily="18" charset="0"/>
              </a:rPr>
              <a:t>arguments</a:t>
            </a:r>
            <a:r>
              <a:rPr lang="en-US" dirty="0">
                <a:latin typeface="Times New Roman" panose="02020603050405020304" pitchFamily="18" charset="0"/>
                <a:cs typeface="Times New Roman" panose="02020603050405020304" pitchFamily="18" charset="0"/>
              </a:rPr>
              <a:t>) means we give Excel the range A1:A4 as input. This function adds the values in cells A1, A2, A3 and A4. It's not easy to remember which function and which arguments to use for each task. Fortunately, the Insert Function feature in Excel helps you with this.</a:t>
            </a:r>
          </a:p>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21</a:t>
            </a:fld>
            <a:endParaRPr lang="en-US" dirty="0"/>
          </a:p>
        </p:txBody>
      </p:sp>
    </p:spTree>
    <p:extLst>
      <p:ext uri="{BB962C8B-B14F-4D97-AF65-F5344CB8AC3E}">
        <p14:creationId xmlns:p14="http://schemas.microsoft.com/office/powerpoint/2010/main" val="295151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dirty="0">
                <a:latin typeface="Times New Roman" panose="02020603050405020304" pitchFamily="18" charset="0"/>
                <a:cs typeface="Times New Roman" panose="02020603050405020304" pitchFamily="18" charset="0"/>
              </a:rPr>
              <a:t>Every function has the same structure. For example, SUM(A1:A4). The name of this function is SUM. The part between the brackets (</a:t>
            </a:r>
            <a:r>
              <a:rPr lang="en-US" i="1" dirty="0">
                <a:latin typeface="Times New Roman" panose="02020603050405020304" pitchFamily="18" charset="0"/>
                <a:cs typeface="Times New Roman" panose="02020603050405020304" pitchFamily="18" charset="0"/>
              </a:rPr>
              <a:t>arguments</a:t>
            </a:r>
            <a:r>
              <a:rPr lang="en-US" dirty="0">
                <a:latin typeface="Times New Roman" panose="02020603050405020304" pitchFamily="18" charset="0"/>
                <a:cs typeface="Times New Roman" panose="02020603050405020304" pitchFamily="18" charset="0"/>
              </a:rPr>
              <a:t>) means we give Excel the range A1:A4 as input. This function adds the values in cells A1, A2, A3 and A4. It's not easy to remember which function and which arguments to use for each task. Fortunately, the Insert Function feature in Excel helps you with this.</a:t>
            </a:r>
          </a:p>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22</a:t>
            </a:fld>
            <a:endParaRPr lang="en-US" dirty="0"/>
          </a:p>
        </p:txBody>
      </p:sp>
    </p:spTree>
    <p:extLst>
      <p:ext uri="{BB962C8B-B14F-4D97-AF65-F5344CB8AC3E}">
        <p14:creationId xmlns:p14="http://schemas.microsoft.com/office/powerpoint/2010/main" val="295151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dirty="0">
                <a:latin typeface="Times New Roman" panose="02020603050405020304" pitchFamily="18" charset="0"/>
                <a:cs typeface="Times New Roman" panose="02020603050405020304" pitchFamily="18" charset="0"/>
              </a:rPr>
              <a:t>Every function has the same structure. For example, SUM(A1:A4). The name of this function is SUM. The part between the brackets (</a:t>
            </a:r>
            <a:r>
              <a:rPr lang="en-US" i="1" dirty="0">
                <a:latin typeface="Times New Roman" panose="02020603050405020304" pitchFamily="18" charset="0"/>
                <a:cs typeface="Times New Roman" panose="02020603050405020304" pitchFamily="18" charset="0"/>
              </a:rPr>
              <a:t>arguments</a:t>
            </a:r>
            <a:r>
              <a:rPr lang="en-US" dirty="0">
                <a:latin typeface="Times New Roman" panose="02020603050405020304" pitchFamily="18" charset="0"/>
                <a:cs typeface="Times New Roman" panose="02020603050405020304" pitchFamily="18" charset="0"/>
              </a:rPr>
              <a:t>) means we give Excel the range A1:A4 as input. This function adds the values in cells A1, A2, A3 and A4. It's not easy to remember which function and which arguments to use for each task. Fortunately, the Insert Function feature in Excel helps you with this.</a:t>
            </a:r>
          </a:p>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23</a:t>
            </a:fld>
            <a:endParaRPr lang="en-US" dirty="0"/>
          </a:p>
        </p:txBody>
      </p:sp>
    </p:spTree>
    <p:extLst>
      <p:ext uri="{BB962C8B-B14F-4D97-AF65-F5344CB8AC3E}">
        <p14:creationId xmlns:p14="http://schemas.microsoft.com/office/powerpoint/2010/main" val="295151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24</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25</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26</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27</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28</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29</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30</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31</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most used functions in Excel are the functions that count and sum. You can count and sum based on </a:t>
            </a:r>
            <a:r>
              <a:rPr lang="en-US" sz="1300" dirty="0" err="1"/>
              <a:t>onecriteria</a:t>
            </a:r>
            <a:r>
              <a:rPr lang="en-US" sz="1300" dirty="0"/>
              <a:t> or multiple criteria</a:t>
            </a:r>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t>32</a:t>
            </a:fld>
            <a:endParaRPr lang="en-US" dirty="0"/>
          </a:p>
        </p:txBody>
      </p:sp>
    </p:spTree>
    <p:extLst>
      <p:ext uri="{BB962C8B-B14F-4D97-AF65-F5344CB8AC3E}">
        <p14:creationId xmlns:p14="http://schemas.microsoft.com/office/powerpoint/2010/main" val="2860496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67754-10BA-4605-A6D2-AE15F54EC208}"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286049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1966FD2-22F3-4308-A167-F3C21FCD6588}" type="datetimeFigureOut">
              <a:rPr lang="en-US" smtClean="0"/>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3351533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966FD2-22F3-4308-A167-F3C21FCD6588}" type="datetimeFigureOut">
              <a:rPr lang="en-US" smtClean="0"/>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219366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4" name="Date Placeholder 3"/>
          <p:cNvSpPr>
            <a:spLocks noGrp="1"/>
          </p:cNvSpPr>
          <p:nvPr>
            <p:ph type="dt" sz="half" idx="10"/>
          </p:nvPr>
        </p:nvSpPr>
        <p:spPr/>
        <p:txBody>
          <a:bodyPr/>
          <a:lstStyle/>
          <a:p>
            <a:fld id="{91966FD2-22F3-4308-A167-F3C21FCD6588}" type="datetimeFigureOut">
              <a:rPr lang="en-US" smtClean="0"/>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31263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966FD2-22F3-4308-A167-F3C21FCD6588}" type="datetimeFigureOut">
              <a:rPr lang="en-US" smtClean="0"/>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2246335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1966FD2-22F3-4308-A167-F3C21FCD6588}" type="datetimeFigureOut">
              <a:rPr lang="en-US" smtClean="0"/>
              <a:t>5/12/23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857247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1966FD2-22F3-4308-A167-F3C21FCD6588}" type="datetimeFigureOut">
              <a:rPr lang="en-US" smtClean="0"/>
              <a:t>5/12/23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287757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966FD2-22F3-4308-A167-F3C21FCD6588}" type="datetimeFigureOut">
              <a:rPr lang="en-US" smtClean="0"/>
              <a:t>5/12/23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1346676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966FD2-22F3-4308-A167-F3C21FCD6588}" type="datetimeFigureOut">
              <a:rPr lang="en-US" smtClean="0"/>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3117661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966FD2-22F3-4308-A167-F3C21FCD6588}" type="datetimeFigureOut">
              <a:rPr lang="en-US" smtClean="0"/>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1302515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966FD2-22F3-4308-A167-F3C21FCD6588}" type="datetimeFigureOut">
              <a:rPr lang="en-US" smtClean="0"/>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2286560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966FD2-22F3-4308-A167-F3C21FCD6588}" type="datetimeFigureOut">
              <a:rPr lang="en-US" smtClean="0"/>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EDECD31-78EE-423E-9935-84E0E0597BA2}" type="slidenum">
              <a:rPr lang="en-US" smtClean="0"/>
              <a:t>‹N›</a:t>
            </a:fld>
            <a:endParaRPr lang="en-US" dirty="0"/>
          </a:p>
        </p:txBody>
      </p:sp>
    </p:spTree>
    <p:extLst>
      <p:ext uri="{BB962C8B-B14F-4D97-AF65-F5344CB8AC3E}">
        <p14:creationId xmlns:p14="http://schemas.microsoft.com/office/powerpoint/2010/main" val="3784004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solidFill>
                  <a:srgbClr val="DBF5F9">
                    <a:shade val="90000"/>
                  </a:srgbClr>
                </a:solidFill>
              </a:rPr>
              <a:pPr/>
              <a:t>5/12/23</a:t>
            </a:fld>
            <a:endParaRPr lang="en-US" dirty="0">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dirty="0">
              <a:solidFill>
                <a:srgbClr val="DBF5F9">
                  <a:shade val="90000"/>
                </a:srgbClr>
              </a:solidFill>
            </a:endParaRPr>
          </a:p>
        </p:txBody>
      </p:sp>
      <p:sp>
        <p:nvSpPr>
          <p:cNvPr id="27" name="Slide Number Placeholder 26"/>
          <p:cNvSpPr>
            <a:spLocks noGrp="1"/>
          </p:cNvSpPr>
          <p:nvPr>
            <p:ph type="sldNum" sz="quarter" idx="12"/>
          </p:nvPr>
        </p:nvSpPr>
        <p:spPr/>
        <p:txBody>
          <a:bodyPr/>
          <a:lstStyle/>
          <a:p>
            <a:fld id="{B6F15528-21DE-4FAA-801E-634DDDAF4B2B}" type="slidenum">
              <a:rPr lang="en-US" smtClean="0">
                <a:solidFill>
                  <a:srgbClr val="DBF5F9">
                    <a:shade val="90000"/>
                  </a:srgbClr>
                </a:solidFill>
              </a:rPr>
              <a:pPr/>
              <a:t>‹N›</a:t>
            </a:fld>
            <a:endParaRPr lang="en-US" dirty="0">
              <a:solidFill>
                <a:srgbClr val="DBF5F9">
                  <a:shade val="90000"/>
                </a:srgbClr>
              </a:solidFill>
            </a:endParaRPr>
          </a:p>
        </p:txBody>
      </p:sp>
    </p:spTree>
    <p:extLst>
      <p:ext uri="{BB962C8B-B14F-4D97-AF65-F5344CB8AC3E}">
        <p14:creationId xmlns:p14="http://schemas.microsoft.com/office/powerpoint/2010/main" val="1081093695"/>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1938268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BF5F9">
                    <a:shade val="90000"/>
                  </a:srgbClr>
                </a:solidFill>
              </a:rPr>
              <a:pPr/>
              <a:t>5/12/23</a:t>
            </a:fld>
            <a:endParaRPr lang="en-US" dirty="0">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dirty="0">
              <a:solidFill>
                <a:srgbClr val="DBF5F9">
                  <a:shade val="90000"/>
                </a:srgb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rgbClr val="DBF5F9">
                    <a:shade val="90000"/>
                  </a:srgbClr>
                </a:solidFill>
              </a:rPr>
              <a:pPr/>
              <a:t>‹N›</a:t>
            </a:fld>
            <a:endParaRPr lang="en-US" dirty="0">
              <a:solidFill>
                <a:srgbClr val="DBF5F9">
                  <a:shade val="90000"/>
                </a:srgbClr>
              </a:solidFill>
            </a:endParaRPr>
          </a:p>
        </p:txBody>
      </p:sp>
    </p:spTree>
    <p:extLst>
      <p:ext uri="{BB962C8B-B14F-4D97-AF65-F5344CB8AC3E}">
        <p14:creationId xmlns:p14="http://schemas.microsoft.com/office/powerpoint/2010/main" val="1886728022"/>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dirty="0">
              <a:solidFill>
                <a:srgbClr val="04617B">
                  <a:shade val="90000"/>
                </a:srgb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1057852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dirty="0">
              <a:solidFill>
                <a:srgbClr val="04617B">
                  <a:shade val="90000"/>
                </a:srgb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21097785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dirty="0">
              <a:solidFill>
                <a:srgbClr val="04617B">
                  <a:shade val="90000"/>
                </a:srgb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908239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dirty="0">
              <a:solidFill>
                <a:srgbClr val="04617B">
                  <a:shade val="90000"/>
                </a:srgb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8226742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dirty="0">
              <a:solidFill>
                <a:srgbClr val="04617B">
                  <a:shade val="90000"/>
                </a:srgb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339216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dirty="0">
              <a:solidFill>
                <a:srgbClr val="04617B">
                  <a:shade val="90000"/>
                </a:srgbClr>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Tree>
    <p:extLst>
      <p:ext uri="{BB962C8B-B14F-4D97-AF65-F5344CB8AC3E}">
        <p14:creationId xmlns:p14="http://schemas.microsoft.com/office/powerpoint/2010/main" val="40374155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940851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spTree>
    <p:extLst>
      <p:ext uri="{BB962C8B-B14F-4D97-AF65-F5344CB8AC3E}">
        <p14:creationId xmlns:p14="http://schemas.microsoft.com/office/powerpoint/2010/main" val="2024540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91966FD2-22F3-4308-A167-F3C21FCD6588}" type="datetimeFigureOut">
              <a:rPr lang="en-US" smtClean="0"/>
              <a:pPr/>
              <a:t>5/12/23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3EDECD31-78EE-423E-9935-84E0E0597BA2}" type="slidenum">
              <a:rPr lang="en-US" smtClean="0"/>
              <a:pPr/>
              <a:t>‹N›</a:t>
            </a:fld>
            <a:endParaRPr lang="en-US" dirty="0"/>
          </a:p>
        </p:txBody>
      </p:sp>
    </p:spTree>
    <p:extLst>
      <p:ext uri="{BB962C8B-B14F-4D97-AF65-F5344CB8AC3E}">
        <p14:creationId xmlns:p14="http://schemas.microsoft.com/office/powerpoint/2010/main" val="3221379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solidFill>
                  <a:srgbClr val="04617B">
                    <a:shade val="90000"/>
                  </a:srgbClr>
                </a:solidFill>
              </a:rPr>
              <a:pPr/>
              <a:t>5/12/23</a:t>
            </a:fld>
            <a:endParaRPr lang="en-US" dirty="0">
              <a:solidFill>
                <a:srgbClr val="04617B">
                  <a:shade val="90000"/>
                </a:srgb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solidFill>
                <a:srgbClr val="04617B">
                  <a:shade val="90000"/>
                </a:srgb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solidFill>
                  <a:srgbClr val="04617B">
                    <a:shade val="90000"/>
                  </a:srgbClr>
                </a:solidFill>
              </a:rPr>
              <a:pPr/>
              <a:t>‹N›</a:t>
            </a:fld>
            <a:endParaRPr lang="en-US" dirty="0">
              <a:solidFill>
                <a:srgbClr val="04617B">
                  <a:shade val="90000"/>
                </a:srgb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grpSp>
    </p:spTree>
    <p:extLst>
      <p:ext uri="{BB962C8B-B14F-4D97-AF65-F5344CB8AC3E}">
        <p14:creationId xmlns:p14="http://schemas.microsoft.com/office/powerpoint/2010/main" val="78670323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 Id="rId4" Type="http://schemas.openxmlformats.org/officeDocument/2006/relationships/hyperlink" Target="http://www.excel-easy.com/examples/format-painter.html"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4.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4.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09600" y="1752600"/>
            <a:ext cx="8153400" cy="1829761"/>
          </a:xfrm>
          <a:prstGeom prst="rect">
            <a:avLst/>
          </a:prstGeom>
        </p:spPr>
        <p:txBody>
          <a:bodyPr vert="horz" lIns="91440" tIns="45720" rIns="91440" bIns="45720" rtlCol="0" anchor="b">
            <a:normAutofit fontScale="97500"/>
          </a:bodyPr>
          <a:lst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10000"/>
              </a:lnSpc>
              <a:spcAft>
                <a:spcPts val="1200"/>
              </a:spcAft>
            </a:pPr>
            <a:r>
              <a:rPr lang="en-US" sz="4100" dirty="0">
                <a:solidFill>
                  <a:prstClr val="black"/>
                </a:solidFill>
                <a:effectLst/>
                <a:latin typeface="Times New Roman" panose="02020603050405020304" pitchFamily="18" charset="0"/>
                <a:cs typeface="Times New Roman" panose="02020603050405020304" pitchFamily="18" charset="0"/>
              </a:rPr>
              <a:t>Introduction to Computer Applications</a:t>
            </a:r>
            <a:endParaRPr lang="tr-TR" sz="4100" dirty="0">
              <a:solidFill>
                <a:prstClr val="black"/>
              </a:solidFill>
              <a:effectLst/>
              <a:latin typeface="Times New Roman" panose="02020603050405020304" pitchFamily="18" charset="0"/>
              <a:cs typeface="Times New Roman" panose="02020603050405020304" pitchFamily="18" charset="0"/>
            </a:endParaRPr>
          </a:p>
          <a:p>
            <a:pPr algn="ctr">
              <a:lnSpc>
                <a:spcPct val="110000"/>
              </a:lnSpc>
              <a:spcAft>
                <a:spcPts val="1200"/>
              </a:spcAft>
            </a:pPr>
            <a:r>
              <a:rPr lang="en-US" sz="2900" dirty="0">
                <a:solidFill>
                  <a:prstClr val="black"/>
                </a:solidFill>
                <a:effectLst/>
                <a:latin typeface="Times New Roman" panose="02020603050405020304" pitchFamily="18" charset="0"/>
                <a:cs typeface="Times New Roman" panose="02020603050405020304" pitchFamily="18" charset="0"/>
              </a:rPr>
              <a:t>Introduction to MS Excel</a:t>
            </a:r>
          </a:p>
        </p:txBody>
      </p:sp>
    </p:spTree>
    <p:extLst>
      <p:ext uri="{BB962C8B-B14F-4D97-AF65-F5344CB8AC3E}">
        <p14:creationId xmlns:p14="http://schemas.microsoft.com/office/powerpoint/2010/main" val="196999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09600" y="381000"/>
            <a:ext cx="7543800" cy="309693"/>
          </a:xfrm>
        </p:spPr>
        <p:txBody>
          <a:bodyPr>
            <a:noAutofit/>
          </a:bodyPr>
          <a:lstStyle/>
          <a:p>
            <a:pPr algn="ctr"/>
            <a:r>
              <a:rPr lang="en-AU" sz="3200" dirty="0">
                <a:solidFill>
                  <a:schemeClr val="tx1"/>
                </a:solidFill>
                <a:effectLst/>
                <a:latin typeface="Times New Roman" panose="02020603050405020304" pitchFamily="18" charset="0"/>
                <a:cs typeface="Times New Roman" panose="02020603050405020304" pitchFamily="18" charset="0"/>
              </a:rPr>
              <a:t>Summary of </a:t>
            </a:r>
            <a:r>
              <a:rPr lang="tr-TR" sz="3200" dirty="0">
                <a:solidFill>
                  <a:schemeClr val="tx1"/>
                </a:solidFill>
                <a:latin typeface="Times New Roman" panose="02020603050405020304" pitchFamily="18" charset="0"/>
                <a:cs typeface="Times New Roman" panose="02020603050405020304" pitchFamily="18" charset="0"/>
              </a:rPr>
              <a:t>t</a:t>
            </a:r>
            <a:r>
              <a:rPr lang="en-AU" sz="3200" dirty="0">
                <a:solidFill>
                  <a:schemeClr val="tx1"/>
                </a:solidFill>
                <a:effectLst/>
                <a:latin typeface="Times New Roman" panose="02020603050405020304" pitchFamily="18" charset="0"/>
                <a:cs typeface="Times New Roman" panose="02020603050405020304" pitchFamily="18" charset="0"/>
              </a:rPr>
              <a:t>he Last </a:t>
            </a:r>
            <a:r>
              <a:rPr lang="tr-TR" sz="3200" dirty="0">
                <a:solidFill>
                  <a:schemeClr val="tx1"/>
                </a:solidFill>
                <a:effectLst/>
                <a:latin typeface="Times New Roman" panose="02020603050405020304" pitchFamily="18" charset="0"/>
                <a:cs typeface="Times New Roman" panose="02020603050405020304" pitchFamily="18" charset="0"/>
              </a:rPr>
              <a:t>week</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4" name="Rectangle 3"/>
          <p:cNvSpPr/>
          <p:nvPr/>
        </p:nvSpPr>
        <p:spPr>
          <a:xfrm>
            <a:off x="391391" y="795310"/>
            <a:ext cx="7696200" cy="5652317"/>
          </a:xfrm>
          <a:prstGeom prst="rect">
            <a:avLst/>
          </a:prstGeom>
        </p:spPr>
        <p:txBody>
          <a:bodyPr wrap="square">
            <a:spAutoFit/>
          </a:bodyPr>
          <a:lstStyle/>
          <a:p>
            <a:pPr marL="290513" lvl="0" indent="-176213">
              <a:spcBef>
                <a:spcPct val="20000"/>
              </a:spcBef>
              <a:spcAft>
                <a:spcPts val="500"/>
              </a:spcAft>
              <a:buSzPct val="10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Exploring &amp; identifying MS Excel user interface elements.</a:t>
            </a:r>
          </a:p>
          <a:p>
            <a:pPr marL="290513" lvl="0" indent="-176213">
              <a:spcBef>
                <a:spcPct val="20000"/>
              </a:spcBef>
              <a:spcAft>
                <a:spcPts val="500"/>
              </a:spcAft>
              <a:buSzPct val="10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Moving around worksheets.</a:t>
            </a:r>
          </a:p>
          <a:p>
            <a:pPr marL="290513" lvl="0" indent="-176213">
              <a:spcBef>
                <a:spcPct val="20000"/>
              </a:spcBef>
              <a:spcAft>
                <a:spcPts val="500"/>
              </a:spcAft>
              <a:buSzPct val="10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Selecting cells, rows, and columns.</a:t>
            </a:r>
          </a:p>
          <a:p>
            <a:pPr marL="290513" lvl="0" indent="-176213">
              <a:spcBef>
                <a:spcPct val="20000"/>
              </a:spcBef>
              <a:spcAft>
                <a:spcPts val="500"/>
              </a:spcAft>
              <a:buSzPct val="10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Editing &amp; formatting worksheets.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Inserting &amp; deleting rows and columns.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Deleting rows &amp; columns.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Changing row heights &amp; column widths. </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Hiding &amp; </a:t>
            </a:r>
            <a:r>
              <a:rPr lang="en-US" dirty="0" err="1">
                <a:latin typeface="Times New Roman" panose="02020603050405020304" pitchFamily="18" charset="0"/>
                <a:cs typeface="Times New Roman" panose="02020603050405020304" pitchFamily="18" charset="0"/>
              </a:rPr>
              <a:t>unhiding</a:t>
            </a:r>
            <a:r>
              <a:rPr lang="en-US" dirty="0">
                <a:latin typeface="Times New Roman" panose="02020603050405020304" pitchFamily="18" charset="0"/>
                <a:cs typeface="Times New Roman" panose="02020603050405020304" pitchFamily="18" charset="0"/>
              </a:rPr>
              <a:t> rows &amp; columns.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Selecting worksheets </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Navigating between worksheets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Renaming worksheets </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Inserting &amp; deleting worksheets</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Moving &amp; copying worksheets</a:t>
            </a:r>
            <a:endParaRPr lang="tr-TR" dirty="0">
              <a:latin typeface="Times New Roman" panose="02020603050405020304" pitchFamily="18" charset="0"/>
              <a:cs typeface="Times New Roman" panose="02020603050405020304" pitchFamily="18" charset="0"/>
            </a:endParaRPr>
          </a:p>
          <a:p>
            <a:pPr marL="290513" indent="-176213">
              <a:spcAft>
                <a:spcPts val="500"/>
              </a:spcAft>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Switching between MS Excel views </a:t>
            </a:r>
          </a:p>
          <a:p>
            <a:pPr marL="290513" indent="-176213">
              <a:spcAft>
                <a:spcPts val="5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Freezing</a:t>
            </a:r>
            <a:r>
              <a:rPr lang="tr-TR" dirty="0">
                <a:latin typeface="Times New Roman" panose="02020603050405020304" pitchFamily="18" charset="0"/>
                <a:cs typeface="Times New Roman" panose="02020603050405020304" pitchFamily="18" charset="0"/>
              </a:rPr>
              <a:t> &amp; unf</a:t>
            </a:r>
            <a:r>
              <a:rPr lang="en-US" dirty="0">
                <a:latin typeface="Times New Roman" panose="02020603050405020304" pitchFamily="18" charset="0"/>
                <a:cs typeface="Times New Roman" panose="02020603050405020304" pitchFamily="18" charset="0"/>
              </a:rPr>
              <a:t>reezing </a:t>
            </a:r>
            <a:r>
              <a:rPr lang="tr-TR"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anes </a:t>
            </a:r>
            <a:endParaRPr lang="tr-TR" dirty="0">
              <a:latin typeface="Times New Roman" panose="02020603050405020304" pitchFamily="18" charset="0"/>
              <a:cs typeface="Times New Roman" panose="02020603050405020304" pitchFamily="18" charset="0"/>
            </a:endParaRPr>
          </a:p>
          <a:p>
            <a:pPr marL="290513" indent="-176213">
              <a:spcAft>
                <a:spcPts val="500"/>
              </a:spcAft>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Using templates</a:t>
            </a:r>
          </a:p>
        </p:txBody>
      </p:sp>
    </p:spTree>
    <p:extLst>
      <p:ext uri="{BB962C8B-B14F-4D97-AF65-F5344CB8AC3E}">
        <p14:creationId xmlns:p14="http://schemas.microsoft.com/office/powerpoint/2010/main" val="432020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0"/>
            <a:ext cx="7543800" cy="609600"/>
          </a:xfrm>
        </p:spPr>
        <p:txBody>
          <a:bodyPr>
            <a:normAutofit/>
          </a:bodyPr>
          <a:lstStyle/>
          <a:p>
            <a:pPr algn="ctr"/>
            <a:r>
              <a:rPr lang="tr-TR" sz="3200" dirty="0">
                <a:solidFill>
                  <a:schemeClr val="tx1"/>
                </a:solidFill>
                <a:effectLst/>
                <a:latin typeface="Times New Roman" panose="02020603050405020304" pitchFamily="18" charset="0"/>
                <a:cs typeface="Times New Roman" panose="02020603050405020304" pitchFamily="18" charset="0"/>
              </a:rPr>
              <a:t>Learning Objectives</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391390" y="795310"/>
            <a:ext cx="8219209" cy="6758773"/>
          </a:xfrm>
          <a:prstGeom prst="rect">
            <a:avLst/>
          </a:prstGeom>
        </p:spPr>
        <p:txBody>
          <a:bodyPr wrap="square">
            <a:spAutoFit/>
          </a:bodyPr>
          <a:lstStyle/>
          <a:p>
            <a:pPr lvl="0">
              <a:spcBef>
                <a:spcPct val="20000"/>
              </a:spcBef>
              <a:spcAft>
                <a:spcPts val="1200"/>
              </a:spcAft>
              <a:buSzPct val="100000"/>
            </a:pPr>
            <a:r>
              <a:rPr lang="en-US" dirty="0">
                <a:latin typeface="Times New Roman" panose="02020603050405020304" pitchFamily="18" charset="0"/>
                <a:cs typeface="Times New Roman" panose="02020603050405020304" pitchFamily="18" charset="0"/>
              </a:rPr>
              <a:t>Understand and apply the following skills:</a:t>
            </a:r>
            <a:endParaRPr lang="tr-TR" dirty="0">
              <a:latin typeface="Times New Roman" panose="02020603050405020304" pitchFamily="18" charset="0"/>
              <a:cs typeface="Times New Roman" panose="02020603050405020304" pitchFamily="18" charset="0"/>
            </a:endParaRP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enter a formula.</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edit a formula.</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use parentheses to change the</a:t>
            </a:r>
            <a:r>
              <a:rPr lang="en-US"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operators precendence.</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copy/paste a formula.</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choose between the paste options (Paste,Values, Formulas, Formatting, and Pase Special).</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insert a function.</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use the count functions (Count, Countif, and Countifs).</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use the sum functions (Sum, Sumif, and Sumifs).</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use the logical functions (If, And, and Or).</a:t>
            </a:r>
          </a:p>
          <a:p>
            <a:pPr marL="176213" lvl="0" indent="-176213">
              <a:spcBef>
                <a:spcPct val="20000"/>
              </a:spcBef>
              <a:spcAft>
                <a:spcPts val="12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How to use the statistical functions</a:t>
            </a:r>
            <a:r>
              <a:rPr lang="en-US"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(Average, Averageif, Median, Mode, Standard Deviation, Min, Max, Large, and Small).</a:t>
            </a:r>
          </a:p>
          <a:p>
            <a:pPr marL="176213" lvl="0" indent="-176213">
              <a:spcBef>
                <a:spcPct val="20000"/>
              </a:spcBef>
              <a:spcAft>
                <a:spcPts val="1200"/>
              </a:spcAft>
              <a:buSzPct val="100000"/>
              <a:buFont typeface="Arial" panose="020B0604020202020204" pitchFamily="34" charset="0"/>
              <a:buChar char="•"/>
            </a:pPr>
            <a:endParaRPr lang="tr-TR" dirty="0">
              <a:latin typeface="Times New Roman" panose="02020603050405020304" pitchFamily="18" charset="0"/>
              <a:cs typeface="Times New Roman" panose="02020603050405020304" pitchFamily="18" charset="0"/>
            </a:endParaRPr>
          </a:p>
          <a:p>
            <a:pPr marL="176213" lvl="0" indent="-176213">
              <a:spcBef>
                <a:spcPct val="20000"/>
              </a:spcBef>
              <a:spcAft>
                <a:spcPts val="1200"/>
              </a:spcAft>
              <a:buSzPct val="1000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96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effectLst/>
                <a:latin typeface="Times New Roman" panose="02020603050405020304" pitchFamily="18" charset="0"/>
                <a:cs typeface="Times New Roman" panose="02020603050405020304" pitchFamily="18" charset="0"/>
              </a:rPr>
              <a:t>Outlines</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2" y="838200"/>
            <a:ext cx="8073737" cy="6998839"/>
          </a:xfrm>
          <a:prstGeom prst="rect">
            <a:avLst/>
          </a:prstGeom>
        </p:spPr>
        <p:txBody>
          <a:bodyPr wrap="square">
            <a:spAutoFit/>
          </a:bodyPr>
          <a:lstStyle/>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Formulas and Functions</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Entering a Formula</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Editing a Formula</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Changing the Operators Precedence</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Copying/Pasting a Formula</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Paste Options</a:t>
            </a:r>
          </a:p>
          <a:p>
            <a:pPr marL="285750" lvl="0" indent="-57150">
              <a:spcAft>
                <a:spcPts val="4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 Paste</a:t>
            </a:r>
          </a:p>
          <a:p>
            <a:pPr marL="285750" lvl="0" indent="-57150">
              <a:spcAft>
                <a:spcPts val="4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 Values</a:t>
            </a:r>
          </a:p>
          <a:p>
            <a:pPr marL="285750" lvl="0" indent="-57150">
              <a:spcAft>
                <a:spcPts val="4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 Formulas</a:t>
            </a:r>
          </a:p>
          <a:p>
            <a:pPr marL="285750" lvl="0" indent="-57150">
              <a:spcAft>
                <a:spcPts val="4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 Formatting</a:t>
            </a:r>
          </a:p>
          <a:p>
            <a:pPr marL="285750" lvl="0" indent="-57150">
              <a:spcAft>
                <a:spcPts val="400"/>
              </a:spcAft>
              <a:buSzPct val="10000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 Pase Special</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Inserting a Function</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Count Functions (Count, Countif, Countifs)</a:t>
            </a:r>
          </a:p>
          <a:p>
            <a:pPr marL="176213" lvl="0" indent="-176213">
              <a:spcBef>
                <a:spcPct val="20000"/>
              </a:spcBef>
              <a:spcAft>
                <a:spcPts val="400"/>
              </a:spcAft>
              <a:buSzPct val="100000"/>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Sum Functions (Sum, Sumif, Sumifs)</a:t>
            </a:r>
          </a:p>
          <a:p>
            <a:pPr marL="176213" lvl="0" indent="-176213">
              <a:spcAft>
                <a:spcPts val="400"/>
              </a:spcAft>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Logical Functions (If, And, Or)</a:t>
            </a:r>
          </a:p>
          <a:p>
            <a:pPr marL="176213" indent="-176213">
              <a:spcAft>
                <a:spcPts val="400"/>
              </a:spcAft>
              <a:buFont typeface="Wingdings" panose="05000000000000000000" pitchFamily="2" charset="2"/>
              <a:buChar char="§"/>
            </a:pPr>
            <a:r>
              <a:rPr lang="tr-TR" dirty="0">
                <a:latin typeface="Times New Roman" panose="02020603050405020304" pitchFamily="18" charset="0"/>
                <a:cs typeface="Times New Roman" panose="02020603050405020304" pitchFamily="18" charset="0"/>
              </a:rPr>
              <a:t>Statistical Functions</a:t>
            </a:r>
            <a:r>
              <a:rPr lang="en-US"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(Average, Averageif, Median, Mode, Standard Deviation, Min, Max, Large, and Small).</a:t>
            </a:r>
          </a:p>
          <a:p>
            <a:pPr marL="176213" lvl="0" indent="-176213">
              <a:spcAft>
                <a:spcPts val="400"/>
              </a:spcAft>
              <a:buFont typeface="Wingdings" panose="05000000000000000000" pitchFamily="2" charset="2"/>
              <a:buChar char="§"/>
            </a:pPr>
            <a:endParaRPr lang="tr-TR" dirty="0">
              <a:latin typeface="Times New Roman" panose="02020603050405020304" pitchFamily="18" charset="0"/>
              <a:cs typeface="Times New Roman" panose="02020603050405020304" pitchFamily="18" charset="0"/>
            </a:endParaRPr>
          </a:p>
          <a:p>
            <a:pPr marL="176213" indent="-176213">
              <a:spcAft>
                <a:spcPts val="400"/>
              </a:spcAf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171450">
              <a:spcAft>
                <a:spcPts val="4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81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Formulas and Functions</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2" y="1221041"/>
            <a:ext cx="8530937" cy="1200329"/>
          </a:xfrm>
          <a:prstGeom prst="rect">
            <a:avLst/>
          </a:prstGeom>
        </p:spPr>
        <p:txBody>
          <a:bodyPr wrap="square">
            <a:spAutoFit/>
          </a:bodyPr>
          <a:lstStyle/>
          <a:p>
            <a:pPr marL="176213" indent="-176213">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formula</a:t>
            </a:r>
            <a:r>
              <a:rPr lang="en-US" dirty="0">
                <a:latin typeface="Times New Roman" panose="02020603050405020304" pitchFamily="18" charset="0"/>
                <a:cs typeface="Times New Roman" panose="02020603050405020304" pitchFamily="18" charset="0"/>
              </a:rPr>
              <a:t> is an expression which calculates the value of a cell. </a:t>
            </a:r>
            <a:endParaRPr lang="tr-TR" dirty="0">
              <a:latin typeface="Times New Roman" panose="02020603050405020304" pitchFamily="18" charset="0"/>
              <a:cs typeface="Times New Roman" panose="02020603050405020304" pitchFamily="18" charset="0"/>
            </a:endParaRPr>
          </a:p>
          <a:p>
            <a:pPr marL="176213" indent="-176213">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Functions</a:t>
            </a:r>
            <a:r>
              <a:rPr lang="en-US" dirty="0">
                <a:latin typeface="Times New Roman" panose="02020603050405020304" pitchFamily="18" charset="0"/>
                <a:cs typeface="Times New Roman" panose="02020603050405020304" pitchFamily="18" charset="0"/>
              </a:rPr>
              <a:t> are predefined formulas</a:t>
            </a:r>
            <a:r>
              <a:rPr lang="tr-T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and are already available in Excel.</a:t>
            </a:r>
          </a:p>
          <a:p>
            <a:pPr marL="176213" indent="-176213">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example, cell A3 below contains a formula which adds the value of cell A2 to the value of cell A1.</a:t>
            </a:r>
          </a:p>
        </p:txBody>
      </p:sp>
      <p:pic>
        <p:nvPicPr>
          <p:cNvPr id="1026" name="Picture 2" descr="Formula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86000"/>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25136" y="3962400"/>
            <a:ext cx="8305800" cy="646331"/>
          </a:xfrm>
          <a:prstGeom prst="rect">
            <a:avLst/>
          </a:prstGeom>
        </p:spPr>
        <p:txBody>
          <a:bodyPr wrap="square">
            <a:spAutoFit/>
          </a:bodyPr>
          <a:lstStyle/>
          <a:p>
            <a:pPr marL="114300" indent="-1143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example, cell A3 below contains the SUM </a:t>
            </a:r>
            <a:r>
              <a:rPr lang="en-US" b="1" dirty="0">
                <a:latin typeface="Times New Roman" panose="02020603050405020304" pitchFamily="18" charset="0"/>
                <a:cs typeface="Times New Roman" panose="02020603050405020304" pitchFamily="18" charset="0"/>
              </a:rPr>
              <a:t>function</a:t>
            </a:r>
            <a:r>
              <a:rPr lang="en-US" dirty="0">
                <a:latin typeface="Times New Roman" panose="02020603050405020304" pitchFamily="18" charset="0"/>
                <a:cs typeface="Times New Roman" panose="02020603050405020304" pitchFamily="18" charset="0"/>
              </a:rPr>
              <a:t> which calculates the sum of the range A1:A2</a:t>
            </a:r>
          </a:p>
        </p:txBody>
      </p:sp>
      <p:pic>
        <p:nvPicPr>
          <p:cNvPr id="1028" name="Picture 4" descr="Function 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724400"/>
            <a:ext cx="32956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392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Entering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61057" y="990600"/>
            <a:ext cx="8530937" cy="1200329"/>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enter a formula, execute the following steps.</a:t>
            </a:r>
          </a:p>
          <a:p>
            <a:r>
              <a:rPr lang="en-US" dirty="0">
                <a:latin typeface="Times New Roman" panose="02020603050405020304" pitchFamily="18" charset="0"/>
                <a:cs typeface="Times New Roman" panose="02020603050405020304" pitchFamily="18" charset="0"/>
              </a:rPr>
              <a:t>1. Select a cell.</a:t>
            </a:r>
          </a:p>
          <a:p>
            <a:r>
              <a:rPr lang="en-US" dirty="0">
                <a:latin typeface="Times New Roman" panose="02020603050405020304" pitchFamily="18" charset="0"/>
                <a:cs typeface="Times New Roman" panose="02020603050405020304" pitchFamily="18" charset="0"/>
              </a:rPr>
              <a:t>2. To let Excel know that you want to enter a formula, type an equal sign (</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3. For example, type the formula A1+A2.</a:t>
            </a:r>
          </a:p>
        </p:txBody>
      </p:sp>
      <p:sp>
        <p:nvSpPr>
          <p:cNvPr id="3" name="Rectangle 2"/>
          <p:cNvSpPr/>
          <p:nvPr/>
        </p:nvSpPr>
        <p:spPr>
          <a:xfrm>
            <a:off x="462395" y="3764334"/>
            <a:ext cx="6705600"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Tip: instead of typing A1 and A2, simply select cell A1 and cell A2.</a:t>
            </a:r>
          </a:p>
        </p:txBody>
      </p:sp>
      <p:pic>
        <p:nvPicPr>
          <p:cNvPr id="2050" name="Picture 2" descr="Enter a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995" y="2190929"/>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30331" y="4133741"/>
            <a:ext cx="3521220"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4. Change the value of cell A1 to 3.</a:t>
            </a:r>
          </a:p>
        </p:txBody>
      </p:sp>
      <p:pic>
        <p:nvPicPr>
          <p:cNvPr id="2054" name="Picture 6" descr="Recalcul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995" y="4516928"/>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20831" y="5945678"/>
            <a:ext cx="8239990"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Excel automatically recalculates the value of cell A3. This is one of Excel's most powerful features!</a:t>
            </a:r>
          </a:p>
        </p:txBody>
      </p:sp>
    </p:spTree>
    <p:extLst>
      <p:ext uri="{BB962C8B-B14F-4D97-AF65-F5344CB8AC3E}">
        <p14:creationId xmlns:p14="http://schemas.microsoft.com/office/powerpoint/2010/main" val="3174145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Editing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02175" y="1175266"/>
            <a:ext cx="8530937"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When you select a cell, Excel shows the value or formula of the cell in the formula bar.</a:t>
            </a:r>
          </a:p>
        </p:txBody>
      </p:sp>
      <p:sp>
        <p:nvSpPr>
          <p:cNvPr id="3" name="Rectangle 2"/>
          <p:cNvSpPr/>
          <p:nvPr/>
        </p:nvSpPr>
        <p:spPr>
          <a:xfrm>
            <a:off x="0" y="2935069"/>
            <a:ext cx="6935931"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To edit a formula</a:t>
            </a:r>
            <a:r>
              <a:rPr lang="tr-TR" dirty="0">
                <a:latin typeface="Times New Roman" panose="02020603050405020304" pitchFamily="18" charset="0"/>
                <a:cs typeface="Times New Roman" panose="02020603050405020304" pitchFamily="18" charset="0"/>
              </a:rPr>
              <a:t>:</a:t>
            </a:r>
          </a:p>
          <a:p>
            <a:r>
              <a:rPr lang="tr-TR" dirty="0">
                <a:latin typeface="Times New Roman" panose="02020603050405020304" pitchFamily="18" charset="0"/>
                <a:cs typeface="Times New Roman" panose="02020603050405020304" pitchFamily="18" charset="0"/>
              </a:rPr>
              <a:t>   1. </a:t>
            </a:r>
            <a:r>
              <a:rPr lang="en-US" dirty="0">
                <a:latin typeface="Times New Roman" panose="02020603050405020304" pitchFamily="18" charset="0"/>
                <a:cs typeface="Times New Roman" panose="02020603050405020304" pitchFamily="18" charset="0"/>
              </a:rPr>
              <a:t>click in the formula bar and change the formula.</a:t>
            </a:r>
          </a:p>
        </p:txBody>
      </p:sp>
      <p:pic>
        <p:nvPicPr>
          <p:cNvPr id="3074" name="Picture 2" descr="Formula 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561916"/>
            <a:ext cx="32956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dit a Formu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581400"/>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098" y="5077858"/>
            <a:ext cx="152477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2. Press </a:t>
            </a:r>
            <a:r>
              <a:rPr lang="en-US" b="1" dirty="0">
                <a:latin typeface="Times New Roman" panose="02020603050405020304" pitchFamily="18" charset="0"/>
                <a:cs typeface="Times New Roman" panose="02020603050405020304" pitchFamily="18" charset="0"/>
              </a:rPr>
              <a:t>Enter</a:t>
            </a:r>
          </a:p>
        </p:txBody>
      </p:sp>
      <p:pic>
        <p:nvPicPr>
          <p:cNvPr id="3078" name="Picture 6" descr="Edited Formul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965" y="5262524"/>
            <a:ext cx="32956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729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Operator Precedence</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29885" y="1175266"/>
            <a:ext cx="8328316" cy="1200329"/>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Excel uses a default order in which calculations occur. If a part of the formula is in parentheses, that part will be calculated first. It then performs multiplication or division calculations. Once this is complete, Excel will add and subtract the remainder of your formula. See the example below.</a:t>
            </a:r>
          </a:p>
        </p:txBody>
      </p:sp>
      <p:sp>
        <p:nvSpPr>
          <p:cNvPr id="5" name="Rectangle 4"/>
          <p:cNvSpPr/>
          <p:nvPr/>
        </p:nvSpPr>
        <p:spPr>
          <a:xfrm>
            <a:off x="167985" y="3837980"/>
            <a:ext cx="8686799"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First, Excel performs multiplication (A1 * A2). Next, Excel adds the value of cell A3 to this result.</a:t>
            </a:r>
          </a:p>
          <a:p>
            <a:r>
              <a:rPr lang="en-US" dirty="0">
                <a:latin typeface="Times New Roman" panose="02020603050405020304" pitchFamily="18" charset="0"/>
                <a:cs typeface="Times New Roman" panose="02020603050405020304" pitchFamily="18" charset="0"/>
              </a:rPr>
              <a:t>Another example,</a:t>
            </a:r>
          </a:p>
        </p:txBody>
      </p:sp>
      <p:pic>
        <p:nvPicPr>
          <p:cNvPr id="4098" name="Picture 2" descr="Operator Preced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2018" y="2375595"/>
            <a:ext cx="32956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renthes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2018" y="4267200"/>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67985" y="5867399"/>
            <a:ext cx="8328316"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First, Excel calculates the part in parentheses (A2+A3). Next, it multiplies this result by the value of cell A1.</a:t>
            </a:r>
          </a:p>
        </p:txBody>
      </p:sp>
    </p:spTree>
    <p:extLst>
      <p:ext uri="{BB962C8B-B14F-4D97-AF65-F5344CB8AC3E}">
        <p14:creationId xmlns:p14="http://schemas.microsoft.com/office/powerpoint/2010/main" val="419195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Copying/Pasting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29885" y="1175266"/>
            <a:ext cx="5356515" cy="1200329"/>
          </a:xfrm>
          <a:prstGeom prst="rect">
            <a:avLst/>
          </a:prstGeom>
        </p:spPr>
        <p:txBody>
          <a:bodyPr wrap="square">
            <a:spAutoFit/>
          </a:bodyPr>
          <a:lstStyle/>
          <a:p>
            <a:pPr algn="just">
              <a:spcAft>
                <a:spcPts val="600"/>
              </a:spcAft>
            </a:pPr>
            <a:r>
              <a:rPr lang="en-US" dirty="0">
                <a:latin typeface="Times New Roman" panose="02020603050405020304" pitchFamily="18" charset="0"/>
                <a:cs typeface="Times New Roman" panose="02020603050405020304" pitchFamily="18" charset="0"/>
              </a:rPr>
              <a:t>When you copy a formula, Excel automatically adjusts the cell references for each new cell the formula is copied to. To understand this, execute the following steps.</a:t>
            </a:r>
          </a:p>
        </p:txBody>
      </p:sp>
    </p:spTree>
    <p:extLst>
      <p:ext uri="{BB962C8B-B14F-4D97-AF65-F5344CB8AC3E}">
        <p14:creationId xmlns:p14="http://schemas.microsoft.com/office/powerpoint/2010/main" val="2957148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Copying/Pasting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29885" y="1175266"/>
            <a:ext cx="5356515" cy="1554272"/>
          </a:xfrm>
          <a:prstGeom prst="rect">
            <a:avLst/>
          </a:prstGeom>
        </p:spPr>
        <p:txBody>
          <a:bodyPr wrap="square">
            <a:spAutoFit/>
          </a:bodyPr>
          <a:lstStyle/>
          <a:p>
            <a:pPr algn="just">
              <a:spcAft>
                <a:spcPts val="600"/>
              </a:spcAft>
            </a:pPr>
            <a:r>
              <a:rPr lang="en-US" dirty="0">
                <a:latin typeface="Times New Roman" panose="02020603050405020304" pitchFamily="18" charset="0"/>
                <a:cs typeface="Times New Roman" panose="02020603050405020304" pitchFamily="18" charset="0"/>
              </a:rPr>
              <a:t>When you copy a formula, Excel automatically adjusts the cell references for each new cell the formula is copied to. To understand this, execute the following steps.</a:t>
            </a:r>
          </a:p>
          <a:p>
            <a:pPr algn="just"/>
            <a:r>
              <a:rPr lang="en-US" dirty="0">
                <a:latin typeface="Times New Roman" panose="02020603050405020304" pitchFamily="18" charset="0"/>
                <a:cs typeface="Times New Roman" panose="02020603050405020304" pitchFamily="18" charset="0"/>
              </a:rPr>
              <a:t>1. Enter the formula shown below into cell A4.</a:t>
            </a:r>
          </a:p>
        </p:txBody>
      </p:sp>
      <p:pic>
        <p:nvPicPr>
          <p:cNvPr id="5122" name="Picture 2" descr="Copy a Formula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1816" y="1300788"/>
            <a:ext cx="32956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31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Copying/Pasting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29885" y="1175266"/>
            <a:ext cx="5356515" cy="1554272"/>
          </a:xfrm>
          <a:prstGeom prst="rect">
            <a:avLst/>
          </a:prstGeom>
        </p:spPr>
        <p:txBody>
          <a:bodyPr wrap="square">
            <a:spAutoFit/>
          </a:bodyPr>
          <a:lstStyle/>
          <a:p>
            <a:pPr algn="just">
              <a:spcAft>
                <a:spcPts val="600"/>
              </a:spcAft>
            </a:pPr>
            <a:r>
              <a:rPr lang="en-US" dirty="0">
                <a:latin typeface="Times New Roman" panose="02020603050405020304" pitchFamily="18" charset="0"/>
                <a:cs typeface="Times New Roman" panose="02020603050405020304" pitchFamily="18" charset="0"/>
              </a:rPr>
              <a:t>When you copy a formula, Excel automatically adjusts the cell references for each new cell the formula is copied to. To understand this, execute the following steps.</a:t>
            </a:r>
          </a:p>
          <a:p>
            <a:pPr algn="just"/>
            <a:r>
              <a:rPr lang="en-US" dirty="0">
                <a:latin typeface="Times New Roman" panose="02020603050405020304" pitchFamily="18" charset="0"/>
                <a:cs typeface="Times New Roman" panose="02020603050405020304" pitchFamily="18" charset="0"/>
              </a:rPr>
              <a:t>1. Enter the formula shown below into cell A4.</a:t>
            </a:r>
          </a:p>
        </p:txBody>
      </p:sp>
      <p:sp>
        <p:nvSpPr>
          <p:cNvPr id="5" name="Rectangle 4"/>
          <p:cNvSpPr/>
          <p:nvPr/>
        </p:nvSpPr>
        <p:spPr>
          <a:xfrm>
            <a:off x="129884" y="2694303"/>
            <a:ext cx="8707582" cy="369332"/>
          </a:xfrm>
          <a:prstGeom prst="rect">
            <a:avLst/>
          </a:prstGeom>
        </p:spPr>
        <p:txBody>
          <a:bodyPr wrap="square">
            <a:spAutoFit/>
          </a:bodyPr>
          <a:lstStyle/>
          <a:p>
            <a:pPr algn="just">
              <a:spcAft>
                <a:spcPts val="1200"/>
              </a:spcAft>
            </a:pPr>
            <a:r>
              <a:rPr lang="tr-TR"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Select cell A4,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 and then s</a:t>
            </a:r>
            <a:r>
              <a:rPr lang="en-US" dirty="0">
                <a:latin typeface="Times New Roman" panose="02020603050405020304" pitchFamily="18" charset="0"/>
                <a:cs typeface="Times New Roman" panose="02020603050405020304" pitchFamily="18" charset="0"/>
              </a:rPr>
              <a:t>elect</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cell </a:t>
            </a:r>
            <a:r>
              <a:rPr lang="tr-TR" dirty="0">
                <a:latin typeface="Times New Roman" panose="02020603050405020304" pitchFamily="18" charset="0"/>
                <a:cs typeface="Times New Roman" panose="02020603050405020304" pitchFamily="18" charset="0"/>
              </a:rPr>
              <a:t>  </a:t>
            </a:r>
          </a:p>
        </p:txBody>
      </p:sp>
      <p:pic>
        <p:nvPicPr>
          <p:cNvPr id="5122" name="Picture 2" descr="Copy a Formula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1816" y="1300788"/>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2509" y="3023107"/>
            <a:ext cx="8382000" cy="1200329"/>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B4, right click, and then click </a:t>
            </a:r>
            <a:r>
              <a:rPr lang="en-US" b="1" dirty="0">
                <a:latin typeface="Times New Roman" panose="02020603050405020304" pitchFamily="18" charset="0"/>
                <a:cs typeface="Times New Roman" panose="02020603050405020304" pitchFamily="18" charset="0"/>
              </a:rPr>
              <a:t>Paste</a:t>
            </a:r>
            <a:r>
              <a:rPr lang="en-US" dirty="0">
                <a:latin typeface="Times New Roman" panose="02020603050405020304" pitchFamily="18" charset="0"/>
                <a:cs typeface="Times New Roman" panose="02020603050405020304" pitchFamily="18" charset="0"/>
              </a:rPr>
              <a:t> under 'Paste Options:' (or press </a:t>
            </a:r>
            <a:r>
              <a:rPr lang="en-US" b="1" dirty="0">
                <a:latin typeface="Times New Roman" panose="02020603050405020304" pitchFamily="18" charset="0"/>
                <a:cs typeface="Times New Roman" panose="02020603050405020304" pitchFamily="18" charset="0"/>
              </a:rPr>
              <a:t>CTRL + v</a:t>
            </a: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You can also drag the formula to cell B4. Select cell A4, click on the </a:t>
            </a:r>
            <a:r>
              <a:rPr lang="en-US" b="1" dirty="0">
                <a:latin typeface="Times New Roman" panose="02020603050405020304" pitchFamily="18" charset="0"/>
                <a:cs typeface="Times New Roman" panose="02020603050405020304" pitchFamily="18" charset="0"/>
              </a:rPr>
              <a:t>lower right corner </a:t>
            </a:r>
            <a:r>
              <a:rPr lang="en-US" dirty="0">
                <a:latin typeface="Times New Roman" panose="02020603050405020304" pitchFamily="18" charset="0"/>
                <a:cs typeface="Times New Roman" panose="02020603050405020304" pitchFamily="18" charset="0"/>
              </a:rPr>
              <a:t>of cell A4 and drag it across to cell B4. This is much easier and gives the exact same result!</a:t>
            </a:r>
          </a:p>
          <a:p>
            <a:pPr algn="just"/>
            <a:endParaRPr lang="en-US" dirty="0">
              <a:latin typeface="Times New Roman" panose="02020603050405020304" pitchFamily="18" charset="0"/>
              <a:cs typeface="Times New Roman" panose="02020603050405020304" pitchFamily="18" charset="0"/>
            </a:endParaRPr>
          </a:p>
        </p:txBody>
      </p:sp>
      <p:pic>
        <p:nvPicPr>
          <p:cNvPr id="512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09" y="4256485"/>
            <a:ext cx="3295650"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9664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Copying/Pasting a Formula</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29885" y="1175266"/>
            <a:ext cx="5356515" cy="1554272"/>
          </a:xfrm>
          <a:prstGeom prst="rect">
            <a:avLst/>
          </a:prstGeom>
        </p:spPr>
        <p:txBody>
          <a:bodyPr wrap="square">
            <a:spAutoFit/>
          </a:bodyPr>
          <a:lstStyle/>
          <a:p>
            <a:pPr algn="just">
              <a:spcAft>
                <a:spcPts val="600"/>
              </a:spcAft>
            </a:pPr>
            <a:r>
              <a:rPr lang="en-US" dirty="0">
                <a:latin typeface="Times New Roman" panose="02020603050405020304" pitchFamily="18" charset="0"/>
                <a:cs typeface="Times New Roman" panose="02020603050405020304" pitchFamily="18" charset="0"/>
              </a:rPr>
              <a:t>When you copy a formula, Excel automatically adjusts the cell references for each new cell the formula is copied to. To understand this, execute the following steps.</a:t>
            </a:r>
          </a:p>
          <a:p>
            <a:pPr algn="just"/>
            <a:r>
              <a:rPr lang="en-US" dirty="0">
                <a:latin typeface="Times New Roman" panose="02020603050405020304" pitchFamily="18" charset="0"/>
                <a:cs typeface="Times New Roman" panose="02020603050405020304" pitchFamily="18" charset="0"/>
              </a:rPr>
              <a:t>1. Enter the formula shown below into cell A4.</a:t>
            </a:r>
          </a:p>
        </p:txBody>
      </p:sp>
      <p:sp>
        <p:nvSpPr>
          <p:cNvPr id="5" name="Rectangle 4"/>
          <p:cNvSpPr/>
          <p:nvPr/>
        </p:nvSpPr>
        <p:spPr>
          <a:xfrm>
            <a:off x="129884" y="2694303"/>
            <a:ext cx="8707582" cy="369332"/>
          </a:xfrm>
          <a:prstGeom prst="rect">
            <a:avLst/>
          </a:prstGeom>
        </p:spPr>
        <p:txBody>
          <a:bodyPr wrap="square">
            <a:spAutoFit/>
          </a:bodyPr>
          <a:lstStyle/>
          <a:p>
            <a:pPr algn="just">
              <a:spcAft>
                <a:spcPts val="1200"/>
              </a:spcAft>
            </a:pPr>
            <a:r>
              <a:rPr lang="tr-TR"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Select cell A4,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 and then s</a:t>
            </a:r>
            <a:r>
              <a:rPr lang="en-US" dirty="0">
                <a:latin typeface="Times New Roman" panose="02020603050405020304" pitchFamily="18" charset="0"/>
                <a:cs typeface="Times New Roman" panose="02020603050405020304" pitchFamily="18" charset="0"/>
              </a:rPr>
              <a:t>elect</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cell </a:t>
            </a:r>
            <a:r>
              <a:rPr lang="tr-TR" dirty="0">
                <a:latin typeface="Times New Roman" panose="02020603050405020304" pitchFamily="18" charset="0"/>
                <a:cs typeface="Times New Roman" panose="02020603050405020304" pitchFamily="18" charset="0"/>
              </a:rPr>
              <a:t>  </a:t>
            </a:r>
          </a:p>
        </p:txBody>
      </p:sp>
      <p:pic>
        <p:nvPicPr>
          <p:cNvPr id="5122" name="Picture 2" descr="Copy a Formula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1816" y="1300788"/>
            <a:ext cx="3295650" cy="1428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2509" y="3023107"/>
            <a:ext cx="8382000" cy="1200329"/>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B4, right click, and then click </a:t>
            </a:r>
            <a:r>
              <a:rPr lang="en-US" b="1" dirty="0">
                <a:latin typeface="Times New Roman" panose="02020603050405020304" pitchFamily="18" charset="0"/>
                <a:cs typeface="Times New Roman" panose="02020603050405020304" pitchFamily="18" charset="0"/>
              </a:rPr>
              <a:t>Paste</a:t>
            </a:r>
            <a:r>
              <a:rPr lang="en-US" dirty="0">
                <a:latin typeface="Times New Roman" panose="02020603050405020304" pitchFamily="18" charset="0"/>
                <a:cs typeface="Times New Roman" panose="02020603050405020304" pitchFamily="18" charset="0"/>
              </a:rPr>
              <a:t> under 'Paste Options:' (or press </a:t>
            </a:r>
            <a:r>
              <a:rPr lang="en-US" b="1" dirty="0">
                <a:latin typeface="Times New Roman" panose="02020603050405020304" pitchFamily="18" charset="0"/>
                <a:cs typeface="Times New Roman" panose="02020603050405020304" pitchFamily="18" charset="0"/>
              </a:rPr>
              <a:t>CTRL + v</a:t>
            </a: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You can also drag the formula to cell B4. Select cell A4, click on the </a:t>
            </a:r>
            <a:r>
              <a:rPr lang="en-US" b="1" dirty="0">
                <a:latin typeface="Times New Roman" panose="02020603050405020304" pitchFamily="18" charset="0"/>
                <a:cs typeface="Times New Roman" panose="02020603050405020304" pitchFamily="18" charset="0"/>
              </a:rPr>
              <a:t>lower right corner </a:t>
            </a:r>
            <a:r>
              <a:rPr lang="en-US" dirty="0">
                <a:latin typeface="Times New Roman" panose="02020603050405020304" pitchFamily="18" charset="0"/>
                <a:cs typeface="Times New Roman" panose="02020603050405020304" pitchFamily="18" charset="0"/>
              </a:rPr>
              <a:t>of cell A4 and drag it across to cell B4. This is much easier and gives the exact same result!</a:t>
            </a:r>
          </a:p>
          <a:p>
            <a:pPr algn="just"/>
            <a:endParaRPr lang="en-US" dirty="0">
              <a:latin typeface="Times New Roman" panose="02020603050405020304" pitchFamily="18" charset="0"/>
              <a:cs typeface="Times New Roman" panose="02020603050405020304" pitchFamily="18" charset="0"/>
            </a:endParaRPr>
          </a:p>
        </p:txBody>
      </p:sp>
      <p:pic>
        <p:nvPicPr>
          <p:cNvPr id="512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09" y="4256485"/>
            <a:ext cx="3295650"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216976" y="4365935"/>
            <a:ext cx="3380511" cy="523220"/>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Result. The formula in cell B4 references the values in column B.</a:t>
            </a:r>
          </a:p>
        </p:txBody>
      </p:sp>
      <p:pic>
        <p:nvPicPr>
          <p:cNvPr id="513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6194" y="4950078"/>
            <a:ext cx="3295650"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a:off x="3679247" y="4627545"/>
            <a:ext cx="410441" cy="68663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720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Paste Option</a:t>
            </a:r>
          </a:p>
        </p:txBody>
      </p:sp>
      <p:pic>
        <p:nvPicPr>
          <p:cNvPr id="10245" name="Picture 5" descr="Pas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514600"/>
            <a:ext cx="1704975" cy="81915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aste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482" y="4343400"/>
            <a:ext cx="5753100" cy="180975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76200" y="1143000"/>
            <a:ext cx="8839200" cy="923330"/>
          </a:xfrm>
          <a:prstGeom prst="rect">
            <a:avLst/>
          </a:prstGeom>
        </p:spPr>
        <p:txBody>
          <a:bodyPr wrap="square">
            <a:spAutoFit/>
          </a:bodyPr>
          <a:lstStyle/>
          <a:p>
            <a:r>
              <a:rPr lang="tr-TR"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he </a:t>
            </a:r>
            <a:r>
              <a:rPr lang="en-US" b="1" dirty="0">
                <a:latin typeface="Times New Roman" panose="02020603050405020304" pitchFamily="18" charset="0"/>
                <a:cs typeface="Times New Roman" panose="02020603050405020304" pitchFamily="18" charset="0"/>
              </a:rPr>
              <a:t>Paste</a:t>
            </a:r>
            <a:r>
              <a:rPr lang="en-US" dirty="0">
                <a:latin typeface="Times New Roman" panose="02020603050405020304" pitchFamily="18" charset="0"/>
                <a:cs typeface="Times New Roman" panose="02020603050405020304" pitchFamily="18" charset="0"/>
              </a:rPr>
              <a:t> option pastes </a:t>
            </a:r>
            <a:r>
              <a:rPr lang="en-US" b="1" dirty="0">
                <a:latin typeface="Times New Roman" panose="02020603050405020304" pitchFamily="18" charset="0"/>
                <a:cs typeface="Times New Roman" panose="02020603050405020304" pitchFamily="18" charset="0"/>
              </a:rPr>
              <a:t>everything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1. Select cell B5,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pPr marL="228600" indent="-228600"/>
            <a:r>
              <a:rPr lang="en-US" dirty="0">
                <a:latin typeface="Times New Roman" panose="02020603050405020304" pitchFamily="18" charset="0"/>
                <a:cs typeface="Times New Roman" panose="02020603050405020304" pitchFamily="18" charset="0"/>
              </a:rPr>
              <a:t>2. </a:t>
            </a:r>
            <a:r>
              <a:rPr lang="tr-TR"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elect cell F5, right click, and then click </a:t>
            </a:r>
            <a:r>
              <a:rPr lang="en-US" b="1" dirty="0">
                <a:latin typeface="Times New Roman" panose="02020603050405020304" pitchFamily="18" charset="0"/>
                <a:cs typeface="Times New Roman" panose="02020603050405020304" pitchFamily="18" charset="0"/>
              </a:rPr>
              <a:t>Paste</a:t>
            </a:r>
            <a:r>
              <a:rPr lang="en-US" dirty="0">
                <a:latin typeface="Times New Roman" panose="02020603050405020304" pitchFamily="18" charset="0"/>
                <a:cs typeface="Times New Roman" panose="02020603050405020304" pitchFamily="18" charset="0"/>
              </a:rPr>
              <a:t> under 'Paste Options:' (or press </a:t>
            </a:r>
            <a:r>
              <a:rPr lang="en-US" b="1" dirty="0">
                <a:latin typeface="Times New Roman" panose="02020603050405020304" pitchFamily="18" charset="0"/>
                <a:cs typeface="Times New Roman" panose="02020603050405020304" pitchFamily="18" charset="0"/>
              </a:rPr>
              <a:t>CTRL + v</a:t>
            </a:r>
            <a:r>
              <a:rPr lang="en-US" dirty="0">
                <a:latin typeface="Times New Roman" panose="02020603050405020304" pitchFamily="18" charset="0"/>
                <a:cs typeface="Times New Roman" panose="02020603050405020304" pitchFamily="18" charset="0"/>
              </a:rPr>
              <a:t>).</a:t>
            </a:r>
          </a:p>
        </p:txBody>
      </p:sp>
      <p:sp>
        <p:nvSpPr>
          <p:cNvPr id="14" name="Rectangle 13"/>
          <p:cNvSpPr/>
          <p:nvPr/>
        </p:nvSpPr>
        <p:spPr>
          <a:xfrm>
            <a:off x="76200" y="3505200"/>
            <a:ext cx="77457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Result</a:t>
            </a:r>
          </a:p>
        </p:txBody>
      </p:sp>
    </p:spTree>
    <p:extLst>
      <p:ext uri="{BB962C8B-B14F-4D97-AF65-F5344CB8AC3E}">
        <p14:creationId xmlns:p14="http://schemas.microsoft.com/office/powerpoint/2010/main" val="479820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Values Option</a:t>
            </a:r>
          </a:p>
        </p:txBody>
      </p:sp>
      <p:sp>
        <p:nvSpPr>
          <p:cNvPr id="12" name="Rectangle 11"/>
          <p:cNvSpPr/>
          <p:nvPr/>
        </p:nvSpPr>
        <p:spPr>
          <a:xfrm>
            <a:off x="228600" y="1143000"/>
            <a:ext cx="8534400"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Values</a:t>
            </a:r>
            <a:r>
              <a:rPr lang="en-US" dirty="0">
                <a:latin typeface="Times New Roman" panose="02020603050405020304" pitchFamily="18" charset="0"/>
                <a:cs typeface="Times New Roman" panose="02020603050405020304" pitchFamily="18" charset="0"/>
              </a:rPr>
              <a:t> option pastes </a:t>
            </a:r>
            <a:r>
              <a:rPr lang="en-US" b="1" dirty="0">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result</a:t>
            </a:r>
            <a:r>
              <a:rPr lang="en-US" dirty="0">
                <a:latin typeface="Times New Roman" panose="02020603050405020304" pitchFamily="18" charset="0"/>
                <a:cs typeface="Times New Roman" panose="02020603050405020304" pitchFamily="18" charset="0"/>
              </a:rPr>
              <a:t> of the formula.</a:t>
            </a:r>
          </a:p>
          <a:p>
            <a:r>
              <a:rPr lang="en-US" dirty="0">
                <a:latin typeface="Times New Roman" panose="02020603050405020304" pitchFamily="18" charset="0"/>
                <a:cs typeface="Times New Roman" panose="02020603050405020304" pitchFamily="18" charset="0"/>
              </a:rPr>
              <a:t>1. Select cell B5,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 </a:t>
            </a:r>
            <a:r>
              <a:rPr lang="tr-TR"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elect cell D5, right click, and then click </a:t>
            </a:r>
            <a:r>
              <a:rPr lang="en-US" b="1" dirty="0">
                <a:latin typeface="Times New Roman" panose="02020603050405020304" pitchFamily="18" charset="0"/>
                <a:cs typeface="Times New Roman" panose="02020603050405020304" pitchFamily="18" charset="0"/>
              </a:rPr>
              <a:t>Values</a:t>
            </a:r>
            <a:r>
              <a:rPr lang="en-US" dirty="0">
                <a:latin typeface="Times New Roman" panose="02020603050405020304" pitchFamily="18" charset="0"/>
                <a:cs typeface="Times New Roman" panose="02020603050405020304" pitchFamily="18" charset="0"/>
              </a:rPr>
              <a:t> under 'Paste Options:'</a:t>
            </a:r>
          </a:p>
        </p:txBody>
      </p:sp>
      <p:sp>
        <p:nvSpPr>
          <p:cNvPr id="14" name="Rectangle 13"/>
          <p:cNvSpPr/>
          <p:nvPr/>
        </p:nvSpPr>
        <p:spPr>
          <a:xfrm>
            <a:off x="228600" y="3505200"/>
            <a:ext cx="77457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Result</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544" y="2514600"/>
            <a:ext cx="1704975"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4" name="Picture 4" descr="Paste Values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953" y="4038600"/>
            <a:ext cx="5753100"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621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Formulas Option</a:t>
            </a:r>
          </a:p>
        </p:txBody>
      </p:sp>
      <p:sp>
        <p:nvSpPr>
          <p:cNvPr id="12" name="Rectangle 11"/>
          <p:cNvSpPr/>
          <p:nvPr/>
        </p:nvSpPr>
        <p:spPr>
          <a:xfrm>
            <a:off x="228600" y="1143000"/>
            <a:ext cx="8534400"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Formulas</a:t>
            </a:r>
            <a:r>
              <a:rPr lang="en-US" dirty="0">
                <a:latin typeface="Times New Roman" panose="02020603050405020304" pitchFamily="18" charset="0"/>
                <a:cs typeface="Times New Roman" panose="02020603050405020304" pitchFamily="18" charset="0"/>
              </a:rPr>
              <a:t> option only pastes the </a:t>
            </a:r>
            <a:r>
              <a:rPr lang="en-US" b="1" dirty="0">
                <a:latin typeface="Times New Roman" panose="02020603050405020304" pitchFamily="18" charset="0"/>
                <a:cs typeface="Times New Roman" panose="02020603050405020304" pitchFamily="18" charset="0"/>
              </a:rPr>
              <a:t>formula</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1. Select cell B5,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 </a:t>
            </a:r>
            <a:r>
              <a:rPr lang="tr-TR"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elect cell F5, right click, and then click </a:t>
            </a:r>
            <a:r>
              <a:rPr lang="en-US" b="1" dirty="0">
                <a:latin typeface="Times New Roman" panose="02020603050405020304" pitchFamily="18" charset="0"/>
                <a:cs typeface="Times New Roman" panose="02020603050405020304" pitchFamily="18" charset="0"/>
              </a:rPr>
              <a:t>Formulas</a:t>
            </a:r>
            <a:r>
              <a:rPr lang="en-US" dirty="0">
                <a:latin typeface="Times New Roman" panose="02020603050405020304" pitchFamily="18" charset="0"/>
                <a:cs typeface="Times New Roman" panose="02020603050405020304" pitchFamily="18" charset="0"/>
              </a:rPr>
              <a:t> under 'Paste Options:'</a:t>
            </a:r>
          </a:p>
        </p:txBody>
      </p:sp>
      <p:sp>
        <p:nvSpPr>
          <p:cNvPr id="14" name="Rectangle 13"/>
          <p:cNvSpPr/>
          <p:nvPr/>
        </p:nvSpPr>
        <p:spPr>
          <a:xfrm>
            <a:off x="228600" y="3505200"/>
            <a:ext cx="77457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Result</a:t>
            </a:r>
          </a:p>
        </p:txBody>
      </p:sp>
      <p:pic>
        <p:nvPicPr>
          <p:cNvPr id="16386" name="Picture 2" descr="Paste Formul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438400"/>
            <a:ext cx="1704975" cy="819151"/>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Paste Formulas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114800"/>
            <a:ext cx="5753100"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824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Formatting Option</a:t>
            </a:r>
          </a:p>
        </p:txBody>
      </p:sp>
      <p:sp>
        <p:nvSpPr>
          <p:cNvPr id="12" name="Rectangle 11"/>
          <p:cNvSpPr/>
          <p:nvPr/>
        </p:nvSpPr>
        <p:spPr>
          <a:xfrm>
            <a:off x="200891" y="1143000"/>
            <a:ext cx="8534400"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Formatting</a:t>
            </a:r>
            <a:r>
              <a:rPr lang="en-US" dirty="0">
                <a:latin typeface="Times New Roman" panose="02020603050405020304" pitchFamily="18" charset="0"/>
                <a:cs typeface="Times New Roman" panose="02020603050405020304" pitchFamily="18" charset="0"/>
              </a:rPr>
              <a:t> option only pastes the </a:t>
            </a:r>
            <a:r>
              <a:rPr lang="en-US" b="1" dirty="0">
                <a:latin typeface="Times New Roman" panose="02020603050405020304" pitchFamily="18" charset="0"/>
                <a:cs typeface="Times New Roman" panose="02020603050405020304" pitchFamily="18" charset="0"/>
              </a:rPr>
              <a:t>formatting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1. Select cell B5, right click, and then 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 </a:t>
            </a:r>
            <a:r>
              <a:rPr lang="tr-TR"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elect cell D5, right click, and then click </a:t>
            </a:r>
            <a:r>
              <a:rPr lang="en-US" b="1" dirty="0">
                <a:latin typeface="Times New Roman" panose="02020603050405020304" pitchFamily="18" charset="0"/>
                <a:cs typeface="Times New Roman" panose="02020603050405020304" pitchFamily="18" charset="0"/>
              </a:rPr>
              <a:t>Formatting</a:t>
            </a:r>
            <a:r>
              <a:rPr lang="en-US" dirty="0">
                <a:latin typeface="Times New Roman" panose="02020603050405020304" pitchFamily="18" charset="0"/>
                <a:cs typeface="Times New Roman" panose="02020603050405020304" pitchFamily="18" charset="0"/>
              </a:rPr>
              <a:t> under 'Paste Options:'</a:t>
            </a:r>
          </a:p>
        </p:txBody>
      </p:sp>
      <p:sp>
        <p:nvSpPr>
          <p:cNvPr id="14" name="Rectangle 13"/>
          <p:cNvSpPr/>
          <p:nvPr/>
        </p:nvSpPr>
        <p:spPr>
          <a:xfrm>
            <a:off x="252845" y="3215987"/>
            <a:ext cx="77457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Result</a:t>
            </a:r>
          </a:p>
        </p:txBody>
      </p:sp>
      <p:pic>
        <p:nvPicPr>
          <p:cNvPr id="17412" name="Picture 4" descr="Paste Format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362200"/>
            <a:ext cx="1962150" cy="819151"/>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Paste Formatting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826907"/>
            <a:ext cx="5753100" cy="18097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52844" y="5955268"/>
            <a:ext cx="8028709"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Note: the </a:t>
            </a:r>
            <a:r>
              <a:rPr lang="en-US" dirty="0">
                <a:latin typeface="Times New Roman" panose="02020603050405020304" pitchFamily="18" charset="0"/>
                <a:cs typeface="Times New Roman" panose="02020603050405020304" pitchFamily="18" charset="0"/>
                <a:hlinkClick r:id="rId4"/>
              </a:rPr>
              <a:t>Format Painter</a:t>
            </a:r>
            <a:r>
              <a:rPr lang="en-US" dirty="0">
                <a:latin typeface="Times New Roman" panose="02020603050405020304" pitchFamily="18" charset="0"/>
                <a:cs typeface="Times New Roman" panose="02020603050405020304" pitchFamily="18" charset="0"/>
              </a:rPr>
              <a:t> copy/pastes formatting even quicker</a:t>
            </a:r>
            <a:r>
              <a:rPr lang="tr-T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8216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Paste Special Option</a:t>
            </a:r>
          </a:p>
        </p:txBody>
      </p:sp>
      <p:sp>
        <p:nvSpPr>
          <p:cNvPr id="12" name="Rectangle 11"/>
          <p:cNvSpPr/>
          <p:nvPr/>
        </p:nvSpPr>
        <p:spPr>
          <a:xfrm>
            <a:off x="57150" y="1153391"/>
            <a:ext cx="8534400" cy="1754326"/>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Paste Special </a:t>
            </a:r>
            <a:r>
              <a:rPr lang="en-US" dirty="0">
                <a:latin typeface="Times New Roman" panose="02020603050405020304" pitchFamily="18" charset="0"/>
                <a:cs typeface="Times New Roman" panose="02020603050405020304" pitchFamily="18" charset="0"/>
              </a:rPr>
              <a:t>dialog box offers many more paste options. To launch the Paste Special dialog box, execute the following steps.</a:t>
            </a:r>
          </a:p>
          <a:p>
            <a:pPr marL="228600" indent="-228600">
              <a:buAutoNum type="arabicPeriod"/>
            </a:pPr>
            <a:r>
              <a:rPr lang="en-US" dirty="0">
                <a:latin typeface="Times New Roman" panose="02020603050405020304" pitchFamily="18" charset="0"/>
                <a:cs typeface="Times New Roman" panose="02020603050405020304" pitchFamily="18" charset="0"/>
              </a:rPr>
              <a:t>Select cell B5, right click, and then</a:t>
            </a:r>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 Next, select cell D5, right click, and then </a:t>
            </a:r>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click </a:t>
            </a:r>
            <a:r>
              <a:rPr lang="en-US" b="1" dirty="0">
                <a:latin typeface="Times New Roman" panose="02020603050405020304" pitchFamily="18" charset="0"/>
                <a:cs typeface="Times New Roman" panose="02020603050405020304" pitchFamily="18" charset="0"/>
              </a:rPr>
              <a:t>Paste Special</a:t>
            </a:r>
            <a:r>
              <a:rPr lang="en-US" dirty="0">
                <a:latin typeface="Times New Roman" panose="02020603050405020304" pitchFamily="18" charset="0"/>
                <a:cs typeface="Times New Roman" panose="02020603050405020304" pitchFamily="18" charset="0"/>
              </a:rPr>
              <a:t>.</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628819"/>
            <a:ext cx="4560515" cy="40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6944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Paste Options – the Paste Special Option</a:t>
            </a:r>
          </a:p>
        </p:txBody>
      </p:sp>
      <p:sp>
        <p:nvSpPr>
          <p:cNvPr id="12" name="Rectangle 11"/>
          <p:cNvSpPr/>
          <p:nvPr/>
        </p:nvSpPr>
        <p:spPr>
          <a:xfrm>
            <a:off x="57150" y="1153391"/>
            <a:ext cx="8534400" cy="1754326"/>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Paste Special </a:t>
            </a:r>
            <a:r>
              <a:rPr lang="en-US" dirty="0">
                <a:latin typeface="Times New Roman" panose="02020603050405020304" pitchFamily="18" charset="0"/>
                <a:cs typeface="Times New Roman" panose="02020603050405020304" pitchFamily="18" charset="0"/>
              </a:rPr>
              <a:t>dialog box offers many more paste options. To launch the Paste Special dialog box, execute the following steps.</a:t>
            </a:r>
          </a:p>
          <a:p>
            <a:pPr marL="228600" indent="-228600">
              <a:buAutoNum type="arabicPeriod"/>
            </a:pPr>
            <a:r>
              <a:rPr lang="en-US" dirty="0">
                <a:latin typeface="Times New Roman" panose="02020603050405020304" pitchFamily="18" charset="0"/>
                <a:cs typeface="Times New Roman" panose="02020603050405020304" pitchFamily="18" charset="0"/>
              </a:rPr>
              <a:t>Select cell B5, right click, and then</a:t>
            </a:r>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click </a:t>
            </a:r>
            <a:r>
              <a:rPr lang="en-US" b="1" dirty="0">
                <a:latin typeface="Times New Roman" panose="02020603050405020304" pitchFamily="18" charset="0"/>
                <a:cs typeface="Times New Roman" panose="02020603050405020304" pitchFamily="18" charset="0"/>
              </a:rPr>
              <a:t>Copy</a:t>
            </a:r>
            <a:r>
              <a:rPr lang="en-US" dirty="0">
                <a:latin typeface="Times New Roman" panose="02020603050405020304" pitchFamily="18" charset="0"/>
                <a:cs typeface="Times New Roman" panose="02020603050405020304" pitchFamily="18" charset="0"/>
              </a:rPr>
              <a:t> (or press </a:t>
            </a:r>
            <a:r>
              <a:rPr lang="en-US" b="1" dirty="0">
                <a:latin typeface="Times New Roman" panose="02020603050405020304" pitchFamily="18" charset="0"/>
                <a:cs typeface="Times New Roman" panose="02020603050405020304" pitchFamily="18" charset="0"/>
              </a:rPr>
              <a:t>CTRL + 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 Next, select cell D5, right click, and then </a:t>
            </a:r>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click </a:t>
            </a:r>
            <a:r>
              <a:rPr lang="en-US" b="1" dirty="0">
                <a:latin typeface="Times New Roman" panose="02020603050405020304" pitchFamily="18" charset="0"/>
                <a:cs typeface="Times New Roman" panose="02020603050405020304" pitchFamily="18" charset="0"/>
              </a:rPr>
              <a:t>Paste Special</a:t>
            </a:r>
            <a:r>
              <a:rPr lang="en-US" dirty="0">
                <a:latin typeface="Times New Roman" panose="02020603050405020304" pitchFamily="18" charset="0"/>
                <a:cs typeface="Times New Roman" panose="02020603050405020304" pitchFamily="18" charset="0"/>
              </a:rPr>
              <a:t>.</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628819"/>
            <a:ext cx="4560515" cy="40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7150" y="2907717"/>
            <a:ext cx="4208567" cy="369332"/>
          </a:xfrm>
          <a:prstGeom prst="rect">
            <a:avLst/>
          </a:prstGeom>
        </p:spPr>
        <p:txBody>
          <a:bodyPr wrap="square">
            <a:spAutoFit/>
          </a:bodyPr>
          <a:lstStyle/>
          <a:p>
            <a:r>
              <a:rPr lang="tr-TR"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Paste Special </a:t>
            </a:r>
            <a:r>
              <a:rPr lang="en-US" dirty="0">
                <a:latin typeface="Times New Roman" panose="02020603050405020304" pitchFamily="18" charset="0"/>
                <a:cs typeface="Times New Roman" panose="02020603050405020304" pitchFamily="18" charset="0"/>
              </a:rPr>
              <a:t>dialog box appears.</a:t>
            </a:r>
          </a:p>
        </p:txBody>
      </p:sp>
      <p:pic>
        <p:nvPicPr>
          <p:cNvPr id="18436" name="Picture 4" descr="Paste Special Dialog 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26" y="3277049"/>
            <a:ext cx="3505200" cy="31051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95250" y="6382199"/>
            <a:ext cx="8820150" cy="369332"/>
          </a:xfrm>
          <a:prstGeom prst="rect">
            <a:avLst/>
          </a:prstGeom>
        </p:spPr>
        <p:txBody>
          <a:bodyPr wrap="square">
            <a:spAutoFit/>
          </a:bodyPr>
          <a:lstStyle/>
          <a:p>
            <a:r>
              <a:rPr lang="tr-TR" dirty="0">
                <a:latin typeface="Times New Roman" panose="02020603050405020304" pitchFamily="18" charset="0"/>
                <a:cs typeface="Times New Roman" panose="02020603050405020304" pitchFamily="18" charset="0"/>
              </a:rPr>
              <a:t>4. Choose the option that fits you, then click </a:t>
            </a:r>
            <a:r>
              <a:rPr lang="tr-TR" b="1" dirty="0">
                <a:latin typeface="Times New Roman" panose="02020603050405020304" pitchFamily="18" charset="0"/>
                <a:cs typeface="Times New Roman" panose="02020603050405020304" pitchFamily="18" charset="0"/>
              </a:rPr>
              <a:t>OK</a:t>
            </a:r>
            <a:r>
              <a:rPr lang="tr-T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722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Inserting a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31173" y="990600"/>
            <a:ext cx="8669482"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insert a function, execute the following steps.</a:t>
            </a:r>
          </a:p>
          <a:p>
            <a:r>
              <a:rPr lang="en-US" dirty="0">
                <a:latin typeface="Times New Roman" panose="02020603050405020304" pitchFamily="18" charset="0"/>
                <a:cs typeface="Times New Roman" panose="02020603050405020304" pitchFamily="18" charset="0"/>
              </a:rPr>
              <a:t>1. Select a cell.</a:t>
            </a:r>
          </a:p>
        </p:txBody>
      </p:sp>
      <p:pic>
        <p:nvPicPr>
          <p:cNvPr id="6146" name="Picture 2" descr="Insert a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676" y="1234785"/>
            <a:ext cx="3151909" cy="1002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5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Inserting a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31173" y="990600"/>
            <a:ext cx="8669482"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insert a function, execute the following steps.</a:t>
            </a:r>
          </a:p>
          <a:p>
            <a:r>
              <a:rPr lang="en-US" dirty="0">
                <a:latin typeface="Times New Roman" panose="02020603050405020304" pitchFamily="18" charset="0"/>
                <a:cs typeface="Times New Roman" panose="02020603050405020304" pitchFamily="18" charset="0"/>
              </a:rPr>
              <a:t>1. Select a cell.</a:t>
            </a:r>
          </a:p>
          <a:p>
            <a:r>
              <a:rPr lang="en-US" dirty="0">
                <a:latin typeface="Times New Roman" panose="02020603050405020304" pitchFamily="18" charset="0"/>
                <a:cs typeface="Times New Roman" panose="02020603050405020304" pitchFamily="18" charset="0"/>
              </a:rPr>
              <a:t>2. Click 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button.</a:t>
            </a:r>
          </a:p>
        </p:txBody>
      </p:sp>
      <p:pic>
        <p:nvPicPr>
          <p:cNvPr id="6146" name="Picture 2" descr="Insert a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676" y="1234785"/>
            <a:ext cx="3151909" cy="100205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1174" y="1817634"/>
            <a:ext cx="5657850" cy="369332"/>
          </a:xfrm>
          <a:prstGeom prst="rect">
            <a:avLst/>
          </a:prstGeom>
        </p:spPr>
        <p:txBody>
          <a:bodyPr wrap="square">
            <a:spAutoFit/>
          </a:bodyPr>
          <a:lstStyle/>
          <a:p>
            <a:pPr marL="176213" indent="-176213"/>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52770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Inserting a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31173" y="990600"/>
            <a:ext cx="8669482"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insert a function, execute the following steps.</a:t>
            </a:r>
          </a:p>
          <a:p>
            <a:r>
              <a:rPr lang="en-US" dirty="0">
                <a:latin typeface="Times New Roman" panose="02020603050405020304" pitchFamily="18" charset="0"/>
                <a:cs typeface="Times New Roman" panose="02020603050405020304" pitchFamily="18" charset="0"/>
              </a:rPr>
              <a:t>1. Select a cell.</a:t>
            </a:r>
          </a:p>
          <a:p>
            <a:r>
              <a:rPr lang="en-US" dirty="0">
                <a:latin typeface="Times New Roman" panose="02020603050405020304" pitchFamily="18" charset="0"/>
                <a:cs typeface="Times New Roman" panose="02020603050405020304" pitchFamily="18" charset="0"/>
              </a:rPr>
              <a:t>2. Click 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button.</a:t>
            </a:r>
          </a:p>
        </p:txBody>
      </p:sp>
      <p:pic>
        <p:nvPicPr>
          <p:cNvPr id="6146" name="Picture 2" descr="Insert a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676" y="1234785"/>
            <a:ext cx="3151909" cy="100205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1174" y="1817634"/>
            <a:ext cx="5657850" cy="1477328"/>
          </a:xfrm>
          <a:prstGeom prst="rect">
            <a:avLst/>
          </a:prstGeom>
        </p:spPr>
        <p:txBody>
          <a:bodyPr wrap="square">
            <a:spAutoFit/>
          </a:bodyPr>
          <a:lstStyle/>
          <a:p>
            <a:pPr marL="176213" indent="-176213"/>
            <a:r>
              <a:rPr lang="tr-TR" dirty="0">
                <a:latin typeface="Times New Roman" panose="02020603050405020304" pitchFamily="18" charset="0"/>
                <a:cs typeface="Times New Roman" panose="02020603050405020304" pitchFamily="18" charset="0"/>
              </a:rPr>
              <a:t>3.T</a:t>
            </a:r>
            <a:r>
              <a:rPr lang="en-US" dirty="0">
                <a:latin typeface="Times New Roman" panose="02020603050405020304" pitchFamily="18" charset="0"/>
                <a:cs typeface="Times New Roman" panose="02020603050405020304" pitchFamily="18" charset="0"/>
              </a:rPr>
              <a: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dialog box appears</a:t>
            </a:r>
            <a:r>
              <a:rPr lang="tr-TR" dirty="0">
                <a:latin typeface="Times New Roman" panose="02020603050405020304" pitchFamily="18" charset="0"/>
                <a:cs typeface="Times New Roman" panose="02020603050405020304" pitchFamily="18" charset="0"/>
              </a:rPr>
              <a:t>, s</a:t>
            </a:r>
            <a:r>
              <a:rPr lang="en-US" dirty="0" err="1">
                <a:latin typeface="Times New Roman" panose="02020603050405020304" pitchFamily="18" charset="0"/>
                <a:cs typeface="Times New Roman" panose="02020603050405020304" pitchFamily="18" charset="0"/>
              </a:rPr>
              <a:t>earch</a:t>
            </a:r>
            <a:r>
              <a:rPr lang="en-US" dirty="0">
                <a:latin typeface="Times New Roman" panose="02020603050405020304" pitchFamily="18" charset="0"/>
                <a:cs typeface="Times New Roman" panose="02020603050405020304" pitchFamily="18" charset="0"/>
              </a:rPr>
              <a:t> for a function or select a function from</a:t>
            </a:r>
            <a:r>
              <a:rPr lang="tr-TR" dirty="0">
                <a:latin typeface="Times New Roman" panose="02020603050405020304" pitchFamily="18" charset="0"/>
                <a:cs typeface="Times New Roman" panose="02020603050405020304" pitchFamily="18" charset="0"/>
              </a:rPr>
              <a:t> a </a:t>
            </a:r>
            <a:r>
              <a:rPr lang="en-US" dirty="0">
                <a:latin typeface="Times New Roman" panose="02020603050405020304" pitchFamily="18" charset="0"/>
                <a:cs typeface="Times New Roman" panose="02020603050405020304" pitchFamily="18" charset="0"/>
              </a:rPr>
              <a:t>category. </a:t>
            </a:r>
            <a:endParaRPr lang="tr-TR" dirty="0">
              <a:latin typeface="Times New Roman" panose="02020603050405020304" pitchFamily="18" charset="0"/>
              <a:cs typeface="Times New Roman" panose="02020603050405020304" pitchFamily="18" charset="0"/>
            </a:endParaRPr>
          </a:p>
          <a:p>
            <a:pPr marL="176213" indent="-176213"/>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example, choose </a:t>
            </a:r>
            <a:r>
              <a:rPr lang="en-US" b="1" dirty="0">
                <a:latin typeface="Times New Roman" panose="02020603050405020304" pitchFamily="18" charset="0"/>
                <a:cs typeface="Times New Roman" panose="02020603050405020304" pitchFamily="18" charset="0"/>
              </a:rPr>
              <a:t>COUNTIF</a:t>
            </a:r>
            <a:r>
              <a:rPr lang="en-US" dirty="0">
                <a:latin typeface="Times New Roman" panose="02020603050405020304" pitchFamily="18" charset="0"/>
                <a:cs typeface="Times New Roman" panose="02020603050405020304" pitchFamily="18" charset="0"/>
              </a:rPr>
              <a:t> from the</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Statistical category.</a:t>
            </a:r>
          </a:p>
          <a:p>
            <a:pPr marL="176213" indent="-176213"/>
            <a:r>
              <a:rPr lang="en-US" dirty="0">
                <a:latin typeface="Times New Roman" panose="02020603050405020304" pitchFamily="18" charset="0"/>
                <a:cs typeface="Times New Roman" panose="02020603050405020304" pitchFamily="18" charset="0"/>
              </a:rPr>
              <a:t> </a:t>
            </a:r>
          </a:p>
        </p:txBody>
      </p:sp>
      <p:pic>
        <p:nvPicPr>
          <p:cNvPr id="6148" name="Picture 4" descr="Insert Function Dialog 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412" y="2438400"/>
            <a:ext cx="3079173" cy="2656971"/>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p:cNvCxnSpPr/>
          <p:nvPr/>
        </p:nvCxnSpPr>
        <p:spPr>
          <a:xfrm>
            <a:off x="7202630" y="2268749"/>
            <a:ext cx="0" cy="16965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43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Inserting a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31173" y="990600"/>
            <a:ext cx="8669482"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insert a function, execute the following steps.</a:t>
            </a:r>
          </a:p>
          <a:p>
            <a:r>
              <a:rPr lang="en-US" dirty="0">
                <a:latin typeface="Times New Roman" panose="02020603050405020304" pitchFamily="18" charset="0"/>
                <a:cs typeface="Times New Roman" panose="02020603050405020304" pitchFamily="18" charset="0"/>
              </a:rPr>
              <a:t>1. Select a cell.</a:t>
            </a:r>
          </a:p>
          <a:p>
            <a:r>
              <a:rPr lang="en-US" dirty="0">
                <a:latin typeface="Times New Roman" panose="02020603050405020304" pitchFamily="18" charset="0"/>
                <a:cs typeface="Times New Roman" panose="02020603050405020304" pitchFamily="18" charset="0"/>
              </a:rPr>
              <a:t>2. Click 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button.</a:t>
            </a:r>
          </a:p>
        </p:txBody>
      </p:sp>
      <p:pic>
        <p:nvPicPr>
          <p:cNvPr id="6146" name="Picture 2" descr="Insert a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676" y="1234785"/>
            <a:ext cx="3151909" cy="100205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1174" y="1817634"/>
            <a:ext cx="5657850" cy="1477328"/>
          </a:xfrm>
          <a:prstGeom prst="rect">
            <a:avLst/>
          </a:prstGeom>
        </p:spPr>
        <p:txBody>
          <a:bodyPr wrap="square">
            <a:spAutoFit/>
          </a:bodyPr>
          <a:lstStyle/>
          <a:p>
            <a:pPr marL="176213" indent="-176213"/>
            <a:r>
              <a:rPr lang="tr-TR" dirty="0">
                <a:latin typeface="Times New Roman" panose="02020603050405020304" pitchFamily="18" charset="0"/>
                <a:cs typeface="Times New Roman" panose="02020603050405020304" pitchFamily="18" charset="0"/>
              </a:rPr>
              <a:t>3.T</a:t>
            </a:r>
            <a:r>
              <a:rPr lang="en-US" dirty="0">
                <a:latin typeface="Times New Roman" panose="02020603050405020304" pitchFamily="18" charset="0"/>
                <a:cs typeface="Times New Roman" panose="02020603050405020304" pitchFamily="18" charset="0"/>
              </a:rPr>
              <a: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dialog box appears</a:t>
            </a:r>
            <a:r>
              <a:rPr lang="tr-TR" dirty="0">
                <a:latin typeface="Times New Roman" panose="02020603050405020304" pitchFamily="18" charset="0"/>
                <a:cs typeface="Times New Roman" panose="02020603050405020304" pitchFamily="18" charset="0"/>
              </a:rPr>
              <a:t>, s</a:t>
            </a:r>
            <a:r>
              <a:rPr lang="en-US" dirty="0" err="1">
                <a:latin typeface="Times New Roman" panose="02020603050405020304" pitchFamily="18" charset="0"/>
                <a:cs typeface="Times New Roman" panose="02020603050405020304" pitchFamily="18" charset="0"/>
              </a:rPr>
              <a:t>earch</a:t>
            </a:r>
            <a:r>
              <a:rPr lang="en-US" dirty="0">
                <a:latin typeface="Times New Roman" panose="02020603050405020304" pitchFamily="18" charset="0"/>
                <a:cs typeface="Times New Roman" panose="02020603050405020304" pitchFamily="18" charset="0"/>
              </a:rPr>
              <a:t> for a function or select a function from</a:t>
            </a:r>
            <a:r>
              <a:rPr lang="tr-TR" dirty="0">
                <a:latin typeface="Times New Roman" panose="02020603050405020304" pitchFamily="18" charset="0"/>
                <a:cs typeface="Times New Roman" panose="02020603050405020304" pitchFamily="18" charset="0"/>
              </a:rPr>
              <a:t> a </a:t>
            </a:r>
            <a:r>
              <a:rPr lang="en-US" dirty="0">
                <a:latin typeface="Times New Roman" panose="02020603050405020304" pitchFamily="18" charset="0"/>
                <a:cs typeface="Times New Roman" panose="02020603050405020304" pitchFamily="18" charset="0"/>
              </a:rPr>
              <a:t>category. </a:t>
            </a:r>
            <a:endParaRPr lang="tr-TR" dirty="0">
              <a:latin typeface="Times New Roman" panose="02020603050405020304" pitchFamily="18" charset="0"/>
              <a:cs typeface="Times New Roman" panose="02020603050405020304" pitchFamily="18" charset="0"/>
            </a:endParaRPr>
          </a:p>
          <a:p>
            <a:pPr marL="176213" indent="-176213"/>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example, choose </a:t>
            </a:r>
            <a:r>
              <a:rPr lang="en-US" b="1" dirty="0">
                <a:latin typeface="Times New Roman" panose="02020603050405020304" pitchFamily="18" charset="0"/>
                <a:cs typeface="Times New Roman" panose="02020603050405020304" pitchFamily="18" charset="0"/>
              </a:rPr>
              <a:t>COUNTIF</a:t>
            </a:r>
            <a:r>
              <a:rPr lang="en-US" dirty="0">
                <a:latin typeface="Times New Roman" panose="02020603050405020304" pitchFamily="18" charset="0"/>
                <a:cs typeface="Times New Roman" panose="02020603050405020304" pitchFamily="18" charset="0"/>
              </a:rPr>
              <a:t> from the</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Statistical category.</a:t>
            </a:r>
          </a:p>
          <a:p>
            <a:pPr marL="176213" indent="-176213"/>
            <a:r>
              <a:rPr lang="en-US" dirty="0">
                <a:latin typeface="Times New Roman" panose="02020603050405020304" pitchFamily="18" charset="0"/>
                <a:cs typeface="Times New Roman" panose="02020603050405020304" pitchFamily="18" charset="0"/>
              </a:rPr>
              <a:t> </a:t>
            </a:r>
          </a:p>
        </p:txBody>
      </p:sp>
      <p:pic>
        <p:nvPicPr>
          <p:cNvPr id="6148" name="Picture 4" descr="Insert Function Dialog 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412" y="2438400"/>
            <a:ext cx="3079173" cy="265697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31174" y="2895600"/>
            <a:ext cx="5645727" cy="1477328"/>
          </a:xfrm>
          <a:prstGeom prst="rect">
            <a:avLst/>
          </a:prstGeom>
        </p:spPr>
        <p:txBody>
          <a:bodyPr wrap="square">
            <a:spAutoFit/>
          </a:bodyPr>
          <a:lstStyle/>
          <a:p>
            <a:pPr marL="228600" indent="-228600"/>
            <a:r>
              <a:rPr lang="en-US" dirty="0">
                <a:latin typeface="Times New Roman" panose="02020603050405020304" pitchFamily="18" charset="0"/>
                <a:cs typeface="Times New Roman" panose="02020603050405020304" pitchFamily="18" charset="0"/>
              </a:rPr>
              <a:t>4. Click </a:t>
            </a:r>
            <a:r>
              <a:rPr lang="en-US" b="1" dirty="0">
                <a:latin typeface="Times New Roman" panose="02020603050405020304" pitchFamily="18" charset="0"/>
                <a:cs typeface="Times New Roman" panose="02020603050405020304" pitchFamily="18" charset="0"/>
              </a:rPr>
              <a:t>OK</a:t>
            </a:r>
            <a:r>
              <a:rPr lang="tr-TR" dirty="0">
                <a:latin typeface="Times New Roman" panose="02020603050405020304" pitchFamily="18" charset="0"/>
                <a:cs typeface="Times New Roman" panose="02020603050405020304" pitchFamily="18" charset="0"/>
              </a:rPr>
              <a:t>, t</a:t>
            </a:r>
            <a:r>
              <a:rPr lang="en-US" dirty="0">
                <a:latin typeface="Times New Roman" panose="02020603050405020304" pitchFamily="18" charset="0"/>
                <a:cs typeface="Times New Roman" panose="02020603050405020304" pitchFamily="18" charset="0"/>
              </a:rPr>
              <a:t>he </a:t>
            </a:r>
            <a:r>
              <a:rPr lang="tr-TR" b="1"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unction Arguments</a:t>
            </a:r>
            <a:r>
              <a:rPr lang="en-US" dirty="0">
                <a:latin typeface="Times New Roman" panose="02020603050405020304" pitchFamily="18" charset="0"/>
                <a:cs typeface="Times New Roman" panose="02020603050405020304" pitchFamily="18" charset="0"/>
              </a:rPr>
              <a:t> dialog box appears.</a:t>
            </a:r>
          </a:p>
          <a:p>
            <a:r>
              <a:rPr lang="en-US" dirty="0">
                <a:latin typeface="Times New Roman" panose="02020603050405020304" pitchFamily="18" charset="0"/>
                <a:cs typeface="Times New Roman" panose="02020603050405020304" pitchFamily="18" charset="0"/>
              </a:rPr>
              <a:t>5. Click in the </a:t>
            </a:r>
            <a:r>
              <a:rPr lang="en-US" b="1" dirty="0">
                <a:latin typeface="Times New Roman" panose="02020603050405020304" pitchFamily="18" charset="0"/>
                <a:cs typeface="Times New Roman" panose="02020603050405020304" pitchFamily="18" charset="0"/>
              </a:rPr>
              <a:t>Range</a:t>
            </a:r>
            <a:r>
              <a:rPr lang="en-US" dirty="0">
                <a:latin typeface="Times New Roman" panose="02020603050405020304" pitchFamily="18" charset="0"/>
                <a:cs typeface="Times New Roman" panose="02020603050405020304" pitchFamily="18" charset="0"/>
              </a:rPr>
              <a:t> box and select the range A1:C2.</a:t>
            </a:r>
          </a:p>
          <a:p>
            <a:r>
              <a:rPr lang="en-US" dirty="0">
                <a:latin typeface="Times New Roman" panose="02020603050405020304" pitchFamily="18" charset="0"/>
                <a:cs typeface="Times New Roman" panose="02020603050405020304" pitchFamily="18" charset="0"/>
              </a:rPr>
              <a:t>6. Click in the </a:t>
            </a:r>
            <a:r>
              <a:rPr lang="en-US" b="1" dirty="0">
                <a:latin typeface="Times New Roman" panose="02020603050405020304" pitchFamily="18" charset="0"/>
                <a:cs typeface="Times New Roman" panose="02020603050405020304" pitchFamily="18" charset="0"/>
              </a:rPr>
              <a:t>Criteria</a:t>
            </a:r>
            <a:r>
              <a:rPr lang="en-US" dirty="0">
                <a:latin typeface="Times New Roman" panose="02020603050405020304" pitchFamily="18" charset="0"/>
                <a:cs typeface="Times New Roman" panose="02020603050405020304" pitchFamily="18" charset="0"/>
              </a:rPr>
              <a:t> box and type &gt;5.</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6150" name="Picture 6" descr="Function Arguments Dialog Bo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958" y="4506427"/>
            <a:ext cx="5058642" cy="2327328"/>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p:cNvCxnSpPr/>
          <p:nvPr/>
        </p:nvCxnSpPr>
        <p:spPr>
          <a:xfrm>
            <a:off x="7202630" y="2268749"/>
            <a:ext cx="0" cy="16965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5257800" y="4926925"/>
            <a:ext cx="356753" cy="16965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06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7620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Inserting a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31173" y="990600"/>
            <a:ext cx="8669482"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insert a function, execute the following steps.</a:t>
            </a:r>
          </a:p>
          <a:p>
            <a:r>
              <a:rPr lang="en-US" dirty="0">
                <a:latin typeface="Times New Roman" panose="02020603050405020304" pitchFamily="18" charset="0"/>
                <a:cs typeface="Times New Roman" panose="02020603050405020304" pitchFamily="18" charset="0"/>
              </a:rPr>
              <a:t>1. Select a cell.</a:t>
            </a:r>
          </a:p>
          <a:p>
            <a:r>
              <a:rPr lang="en-US" dirty="0">
                <a:latin typeface="Times New Roman" panose="02020603050405020304" pitchFamily="18" charset="0"/>
                <a:cs typeface="Times New Roman" panose="02020603050405020304" pitchFamily="18" charset="0"/>
              </a:rPr>
              <a:t>2. Click the </a:t>
            </a:r>
            <a:r>
              <a:rPr lang="en-US" b="1" dirty="0">
                <a:latin typeface="Times New Roman" panose="02020603050405020304" pitchFamily="18" charset="0"/>
                <a:cs typeface="Times New Roman" panose="02020603050405020304" pitchFamily="18" charset="0"/>
              </a:rPr>
              <a:t>Insert Function </a:t>
            </a:r>
            <a:r>
              <a:rPr lang="en-US" dirty="0">
                <a:latin typeface="Times New Roman" panose="02020603050405020304" pitchFamily="18" charset="0"/>
                <a:cs typeface="Times New Roman" panose="02020603050405020304" pitchFamily="18" charset="0"/>
              </a:rPr>
              <a:t>button.</a:t>
            </a:r>
          </a:p>
        </p:txBody>
      </p:sp>
      <p:pic>
        <p:nvPicPr>
          <p:cNvPr id="6146" name="Picture 2" descr="Insert a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676" y="1234785"/>
            <a:ext cx="3151909" cy="100205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1174" y="1817634"/>
            <a:ext cx="5657850" cy="1477328"/>
          </a:xfrm>
          <a:prstGeom prst="rect">
            <a:avLst/>
          </a:prstGeom>
        </p:spPr>
        <p:txBody>
          <a:bodyPr wrap="square">
            <a:spAutoFit/>
          </a:bodyPr>
          <a:lstStyle/>
          <a:p>
            <a:pPr marL="176213" indent="-176213"/>
            <a:r>
              <a:rPr lang="tr-TR" dirty="0">
                <a:latin typeface="Times New Roman" panose="02020603050405020304" pitchFamily="18" charset="0"/>
                <a:cs typeface="Times New Roman" panose="02020603050405020304" pitchFamily="18" charset="0"/>
              </a:rPr>
              <a:t>3.T</a:t>
            </a:r>
            <a:r>
              <a:rPr lang="en-US" dirty="0">
                <a:latin typeface="Times New Roman" panose="02020603050405020304" pitchFamily="18" charset="0"/>
                <a:cs typeface="Times New Roman" panose="02020603050405020304" pitchFamily="18" charset="0"/>
              </a:rPr>
              <a:t>he </a:t>
            </a:r>
            <a:r>
              <a:rPr lang="en-US" b="1" dirty="0">
                <a:latin typeface="Times New Roman" panose="02020603050405020304" pitchFamily="18" charset="0"/>
                <a:cs typeface="Times New Roman" panose="02020603050405020304" pitchFamily="18" charset="0"/>
              </a:rPr>
              <a:t>Insert Function</a:t>
            </a:r>
            <a:r>
              <a:rPr lang="en-US" dirty="0">
                <a:latin typeface="Times New Roman" panose="02020603050405020304" pitchFamily="18" charset="0"/>
                <a:cs typeface="Times New Roman" panose="02020603050405020304" pitchFamily="18" charset="0"/>
              </a:rPr>
              <a:t> dialog box appears</a:t>
            </a:r>
            <a:r>
              <a:rPr lang="tr-TR" dirty="0">
                <a:latin typeface="Times New Roman" panose="02020603050405020304" pitchFamily="18" charset="0"/>
                <a:cs typeface="Times New Roman" panose="02020603050405020304" pitchFamily="18" charset="0"/>
              </a:rPr>
              <a:t>, s</a:t>
            </a:r>
            <a:r>
              <a:rPr lang="en-US" dirty="0" err="1">
                <a:latin typeface="Times New Roman" panose="02020603050405020304" pitchFamily="18" charset="0"/>
                <a:cs typeface="Times New Roman" panose="02020603050405020304" pitchFamily="18" charset="0"/>
              </a:rPr>
              <a:t>earch</a:t>
            </a:r>
            <a:r>
              <a:rPr lang="en-US" dirty="0">
                <a:latin typeface="Times New Roman" panose="02020603050405020304" pitchFamily="18" charset="0"/>
                <a:cs typeface="Times New Roman" panose="02020603050405020304" pitchFamily="18" charset="0"/>
              </a:rPr>
              <a:t> for a function or select a function from</a:t>
            </a:r>
            <a:r>
              <a:rPr lang="tr-TR" dirty="0">
                <a:latin typeface="Times New Roman" panose="02020603050405020304" pitchFamily="18" charset="0"/>
                <a:cs typeface="Times New Roman" panose="02020603050405020304" pitchFamily="18" charset="0"/>
              </a:rPr>
              <a:t> a </a:t>
            </a:r>
            <a:r>
              <a:rPr lang="en-US" dirty="0">
                <a:latin typeface="Times New Roman" panose="02020603050405020304" pitchFamily="18" charset="0"/>
                <a:cs typeface="Times New Roman" panose="02020603050405020304" pitchFamily="18" charset="0"/>
              </a:rPr>
              <a:t>category. </a:t>
            </a:r>
            <a:endParaRPr lang="tr-TR" dirty="0">
              <a:latin typeface="Times New Roman" panose="02020603050405020304" pitchFamily="18" charset="0"/>
              <a:cs typeface="Times New Roman" panose="02020603050405020304" pitchFamily="18" charset="0"/>
            </a:endParaRPr>
          </a:p>
          <a:p>
            <a:pPr marL="176213" indent="-176213"/>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example, choose </a:t>
            </a:r>
            <a:r>
              <a:rPr lang="en-US" b="1" dirty="0">
                <a:latin typeface="Times New Roman" panose="02020603050405020304" pitchFamily="18" charset="0"/>
                <a:cs typeface="Times New Roman" panose="02020603050405020304" pitchFamily="18" charset="0"/>
              </a:rPr>
              <a:t>COUNTIF</a:t>
            </a:r>
            <a:r>
              <a:rPr lang="en-US" dirty="0">
                <a:latin typeface="Times New Roman" panose="02020603050405020304" pitchFamily="18" charset="0"/>
                <a:cs typeface="Times New Roman" panose="02020603050405020304" pitchFamily="18" charset="0"/>
              </a:rPr>
              <a:t> from the</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Statistical category.</a:t>
            </a:r>
          </a:p>
          <a:p>
            <a:pPr marL="176213" indent="-176213"/>
            <a:r>
              <a:rPr lang="en-US" dirty="0">
                <a:latin typeface="Times New Roman" panose="02020603050405020304" pitchFamily="18" charset="0"/>
                <a:cs typeface="Times New Roman" panose="02020603050405020304" pitchFamily="18" charset="0"/>
              </a:rPr>
              <a:t> </a:t>
            </a:r>
          </a:p>
        </p:txBody>
      </p:sp>
      <p:pic>
        <p:nvPicPr>
          <p:cNvPr id="6148" name="Picture 4" descr="Insert Function Dialog 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412" y="2438400"/>
            <a:ext cx="3079173" cy="265697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31174" y="2895600"/>
            <a:ext cx="5645727" cy="1754326"/>
          </a:xfrm>
          <a:prstGeom prst="rect">
            <a:avLst/>
          </a:prstGeom>
        </p:spPr>
        <p:txBody>
          <a:bodyPr wrap="square">
            <a:spAutoFit/>
          </a:bodyPr>
          <a:lstStyle/>
          <a:p>
            <a:pPr marL="228600" indent="-228600"/>
            <a:r>
              <a:rPr lang="en-US" dirty="0">
                <a:latin typeface="Times New Roman" panose="02020603050405020304" pitchFamily="18" charset="0"/>
                <a:cs typeface="Times New Roman" panose="02020603050405020304" pitchFamily="18" charset="0"/>
              </a:rPr>
              <a:t>4. Click </a:t>
            </a:r>
            <a:r>
              <a:rPr lang="en-US" b="1" dirty="0">
                <a:latin typeface="Times New Roman" panose="02020603050405020304" pitchFamily="18" charset="0"/>
                <a:cs typeface="Times New Roman" panose="02020603050405020304" pitchFamily="18" charset="0"/>
              </a:rPr>
              <a:t>OK</a:t>
            </a:r>
            <a:r>
              <a:rPr lang="tr-TR" dirty="0">
                <a:latin typeface="Times New Roman" panose="02020603050405020304" pitchFamily="18" charset="0"/>
                <a:cs typeface="Times New Roman" panose="02020603050405020304" pitchFamily="18" charset="0"/>
              </a:rPr>
              <a:t>, t</a:t>
            </a:r>
            <a:r>
              <a:rPr lang="en-US" dirty="0">
                <a:latin typeface="Times New Roman" panose="02020603050405020304" pitchFamily="18" charset="0"/>
                <a:cs typeface="Times New Roman" panose="02020603050405020304" pitchFamily="18" charset="0"/>
              </a:rPr>
              <a:t>he </a:t>
            </a:r>
            <a:r>
              <a:rPr lang="en-US" b="1" dirty="0">
                <a:latin typeface="Times New Roman" panose="02020603050405020304" pitchFamily="18" charset="0"/>
                <a:cs typeface="Times New Roman" panose="02020603050405020304" pitchFamily="18" charset="0"/>
              </a:rPr>
              <a:t>Function Arguments</a:t>
            </a:r>
            <a:r>
              <a:rPr lang="en-US" dirty="0">
                <a:latin typeface="Times New Roman" panose="02020603050405020304" pitchFamily="18" charset="0"/>
                <a:cs typeface="Times New Roman" panose="02020603050405020304" pitchFamily="18" charset="0"/>
              </a:rPr>
              <a:t> dialog box appears.</a:t>
            </a:r>
          </a:p>
          <a:p>
            <a:r>
              <a:rPr lang="en-US" dirty="0">
                <a:latin typeface="Times New Roman" panose="02020603050405020304" pitchFamily="18" charset="0"/>
                <a:cs typeface="Times New Roman" panose="02020603050405020304" pitchFamily="18" charset="0"/>
              </a:rPr>
              <a:t>5. Click in the </a:t>
            </a:r>
            <a:r>
              <a:rPr lang="en-US" b="1" dirty="0">
                <a:latin typeface="Times New Roman" panose="02020603050405020304" pitchFamily="18" charset="0"/>
                <a:cs typeface="Times New Roman" panose="02020603050405020304" pitchFamily="18" charset="0"/>
              </a:rPr>
              <a:t>Range</a:t>
            </a:r>
            <a:r>
              <a:rPr lang="en-US" dirty="0">
                <a:latin typeface="Times New Roman" panose="02020603050405020304" pitchFamily="18" charset="0"/>
                <a:cs typeface="Times New Roman" panose="02020603050405020304" pitchFamily="18" charset="0"/>
              </a:rPr>
              <a:t> box and select the range A1:C2.</a:t>
            </a:r>
          </a:p>
          <a:p>
            <a:r>
              <a:rPr lang="en-US" dirty="0">
                <a:latin typeface="Times New Roman" panose="02020603050405020304" pitchFamily="18" charset="0"/>
                <a:cs typeface="Times New Roman" panose="02020603050405020304" pitchFamily="18" charset="0"/>
              </a:rPr>
              <a:t>6. Click in the </a:t>
            </a:r>
            <a:r>
              <a:rPr lang="en-US" b="1" dirty="0">
                <a:latin typeface="Times New Roman" panose="02020603050405020304" pitchFamily="18" charset="0"/>
                <a:cs typeface="Times New Roman" panose="02020603050405020304" pitchFamily="18" charset="0"/>
              </a:rPr>
              <a:t>Criteria</a:t>
            </a:r>
            <a:r>
              <a:rPr lang="en-US" dirty="0">
                <a:latin typeface="Times New Roman" panose="02020603050405020304" pitchFamily="18" charset="0"/>
                <a:cs typeface="Times New Roman" panose="02020603050405020304" pitchFamily="18" charset="0"/>
              </a:rPr>
              <a:t> box and type &gt;5.</a:t>
            </a:r>
          </a:p>
          <a:p>
            <a:r>
              <a:rPr lang="en-US" dirty="0">
                <a:latin typeface="Times New Roman" panose="02020603050405020304" pitchFamily="18" charset="0"/>
                <a:cs typeface="Times New Roman" panose="02020603050405020304" pitchFamily="18" charset="0"/>
              </a:rPr>
              <a:t>7. Click </a:t>
            </a:r>
            <a:r>
              <a:rPr lang="en-US" b="1" dirty="0">
                <a:latin typeface="Times New Roman" panose="02020603050405020304" pitchFamily="18" charset="0"/>
                <a:cs typeface="Times New Roman" panose="02020603050405020304" pitchFamily="18" charset="0"/>
              </a:rPr>
              <a:t>OK</a:t>
            </a:r>
            <a:r>
              <a:rPr lang="en-US" dirty="0">
                <a:latin typeface="Times New Roman" panose="02020603050405020304" pitchFamily="18" charset="0"/>
                <a:cs typeface="Times New Roman" panose="02020603050405020304" pitchFamily="18" charset="0"/>
              </a:rPr>
              <a:t>.</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6150" name="Picture 6" descr="Function Arguments Dialog Bo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958" y="4506427"/>
            <a:ext cx="5058642" cy="232732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5387685" y="5287029"/>
            <a:ext cx="3444585" cy="523220"/>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Result. Excel counts the number of cells that are higher than 5.</a:t>
            </a:r>
          </a:p>
        </p:txBody>
      </p:sp>
      <p:pic>
        <p:nvPicPr>
          <p:cNvPr id="6152" name="Picture 8" descr="COUNTIF Resul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8467" y="5810249"/>
            <a:ext cx="3295650" cy="1047751"/>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p:cNvCxnSpPr/>
          <p:nvPr/>
        </p:nvCxnSpPr>
        <p:spPr>
          <a:xfrm>
            <a:off x="7202630" y="2268749"/>
            <a:ext cx="0" cy="16965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5257800" y="4926925"/>
            <a:ext cx="356753" cy="16965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124449" y="6334124"/>
            <a:ext cx="284018"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039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Count Functions- the COUNT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304800" y="1634733"/>
            <a:ext cx="7772400"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count the number of cells that contain </a:t>
            </a:r>
            <a:r>
              <a:rPr lang="en-US" u="sng" dirty="0">
                <a:latin typeface="Times New Roman" panose="02020603050405020304" pitchFamily="18" charset="0"/>
                <a:cs typeface="Times New Roman" panose="02020603050405020304" pitchFamily="18" charset="0"/>
              </a:rPr>
              <a:t>numbers</a:t>
            </a:r>
            <a:r>
              <a:rPr lang="en-US" dirty="0">
                <a:latin typeface="Times New Roman" panose="02020603050405020304" pitchFamily="18" charset="0"/>
                <a:cs typeface="Times New Roman" panose="02020603050405020304" pitchFamily="18" charset="0"/>
              </a:rPr>
              <a:t>, use the following </a:t>
            </a:r>
            <a:r>
              <a:rPr lang="en-US" b="1" dirty="0">
                <a:latin typeface="Times New Roman" panose="02020603050405020304" pitchFamily="18" charset="0"/>
                <a:cs typeface="Times New Roman" panose="02020603050405020304" pitchFamily="18" charset="0"/>
              </a:rPr>
              <a:t>COUNT</a:t>
            </a:r>
            <a:r>
              <a:rPr lang="en-US" dirty="0">
                <a:latin typeface="Times New Roman" panose="02020603050405020304" pitchFamily="18" charset="0"/>
                <a:cs typeface="Times New Roman" panose="02020603050405020304" pitchFamily="18" charset="0"/>
              </a:rPr>
              <a:t> function.</a:t>
            </a:r>
          </a:p>
        </p:txBody>
      </p:sp>
      <p:pic>
        <p:nvPicPr>
          <p:cNvPr id="2050" name="Picture 2" descr="Count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971800"/>
            <a:ext cx="57531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3110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Count Functions – the COUNTIF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304800" y="1595735"/>
            <a:ext cx="8305800"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count cells based on </a:t>
            </a:r>
            <a:r>
              <a:rPr lang="en-US" u="sng" dirty="0">
                <a:latin typeface="Times New Roman" panose="02020603050405020304" pitchFamily="18" charset="0"/>
                <a:cs typeface="Times New Roman" panose="02020603050405020304" pitchFamily="18" charset="0"/>
              </a:rPr>
              <a:t>one criteria </a:t>
            </a:r>
            <a:r>
              <a:rPr lang="en-US" dirty="0">
                <a:latin typeface="Times New Roman" panose="02020603050405020304" pitchFamily="18" charset="0"/>
                <a:cs typeface="Times New Roman" panose="02020603050405020304" pitchFamily="18" charset="0"/>
              </a:rPr>
              <a:t>(for example, higher than 9), use the</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following </a:t>
            </a:r>
            <a:r>
              <a:rPr lang="en-US" b="1" dirty="0">
                <a:latin typeface="Times New Roman" panose="02020603050405020304" pitchFamily="18" charset="0"/>
                <a:cs typeface="Times New Roman" panose="02020603050405020304" pitchFamily="18" charset="0"/>
              </a:rPr>
              <a:t>COUNTIF</a:t>
            </a:r>
            <a:r>
              <a:rPr lang="en-US" dirty="0">
                <a:latin typeface="Times New Roman" panose="02020603050405020304" pitchFamily="18" charset="0"/>
                <a:cs typeface="Times New Roman" panose="02020603050405020304" pitchFamily="18" charset="0"/>
              </a:rPr>
              <a:t> function.</a:t>
            </a:r>
            <a:endParaRPr lang="tr-TR" dirty="0">
              <a:latin typeface="Times New Roman" panose="02020603050405020304" pitchFamily="18" charset="0"/>
              <a:cs typeface="Times New Roman" panose="02020603050405020304" pitchFamily="18" charset="0"/>
            </a:endParaRPr>
          </a:p>
          <a:p>
            <a:r>
              <a:rPr lang="tr-TR" b="1" dirty="0">
                <a:latin typeface="Times New Roman" panose="02020603050405020304" pitchFamily="18" charset="0"/>
                <a:cs typeface="Times New Roman" panose="02020603050405020304" pitchFamily="18" charset="0"/>
              </a:rPr>
              <a:t>Note</a:t>
            </a:r>
            <a:r>
              <a:rPr lang="tr-TR" dirty="0">
                <a:latin typeface="Times New Roman" panose="02020603050405020304" pitchFamily="18" charset="0"/>
                <a:cs typeface="Times New Roman" panose="02020603050405020304" pitchFamily="18" charset="0"/>
              </a:rPr>
              <a:t>: in contrast to the COUNT function, cells can contain text as well.</a:t>
            </a:r>
            <a:endParaRPr lang="en-US" dirty="0">
              <a:latin typeface="Times New Roman" panose="02020603050405020304" pitchFamily="18" charset="0"/>
              <a:cs typeface="Times New Roman" panose="02020603050405020304" pitchFamily="18" charset="0"/>
            </a:endParaRPr>
          </a:p>
        </p:txBody>
      </p:sp>
      <p:pic>
        <p:nvPicPr>
          <p:cNvPr id="2052" name="Picture 4" descr="Countif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276600"/>
            <a:ext cx="57531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66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Count Functions – the COUNTIFS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159327" y="1651701"/>
            <a:ext cx="8047760"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count cells based on </a:t>
            </a:r>
            <a:r>
              <a:rPr lang="en-US" u="sng" dirty="0">
                <a:latin typeface="Times New Roman" panose="02020603050405020304" pitchFamily="18" charset="0"/>
                <a:cs typeface="Times New Roman" panose="02020603050405020304" pitchFamily="18" charset="0"/>
              </a:rPr>
              <a:t>multiple criteria </a:t>
            </a:r>
            <a:r>
              <a:rPr lang="en-US" dirty="0">
                <a:latin typeface="Times New Roman" panose="02020603050405020304" pitchFamily="18" charset="0"/>
                <a:cs typeface="Times New Roman" panose="02020603050405020304" pitchFamily="18" charset="0"/>
              </a:rPr>
              <a:t>(for example, green and higher than 9), use the following </a:t>
            </a:r>
            <a:r>
              <a:rPr lang="en-US" b="1" dirty="0">
                <a:latin typeface="Times New Roman" panose="02020603050405020304" pitchFamily="18" charset="0"/>
                <a:cs typeface="Times New Roman" panose="02020603050405020304" pitchFamily="18" charset="0"/>
              </a:rPr>
              <a:t>COUNTIFS</a:t>
            </a:r>
            <a:r>
              <a:rPr lang="en-US" dirty="0">
                <a:latin typeface="Times New Roman" panose="02020603050405020304" pitchFamily="18" charset="0"/>
                <a:cs typeface="Times New Roman" panose="02020603050405020304" pitchFamily="18" charset="0"/>
              </a:rPr>
              <a:t> function.</a:t>
            </a:r>
          </a:p>
        </p:txBody>
      </p:sp>
      <p:pic>
        <p:nvPicPr>
          <p:cNvPr id="3074" name="Picture 2" descr="Countifs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313" y="2743200"/>
            <a:ext cx="57531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73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Sum Functions -  the SUM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211281" y="1588961"/>
            <a:ext cx="8305800"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sum a range of cells, use the following </a:t>
            </a:r>
            <a:r>
              <a:rPr lang="en-US" b="1" dirty="0">
                <a:latin typeface="Times New Roman" panose="02020603050405020304" pitchFamily="18" charset="0"/>
                <a:cs typeface="Times New Roman" panose="02020603050405020304" pitchFamily="18" charset="0"/>
              </a:rPr>
              <a:t>SUM</a:t>
            </a:r>
            <a:r>
              <a:rPr lang="en-US" dirty="0">
                <a:latin typeface="Times New Roman" panose="02020603050405020304" pitchFamily="18" charset="0"/>
                <a:cs typeface="Times New Roman" panose="02020603050405020304" pitchFamily="18" charset="0"/>
              </a:rPr>
              <a:t> function.</a:t>
            </a:r>
          </a:p>
        </p:txBody>
      </p:sp>
      <p:pic>
        <p:nvPicPr>
          <p:cNvPr id="3076" name="Picture 4" descr="Sum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00" y="2743200"/>
            <a:ext cx="57531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267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Sum Functions -  the SUMIF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228600" y="1651928"/>
            <a:ext cx="8458200"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sum cells based on one criteria (for example, higher than 9), use the following </a:t>
            </a:r>
            <a:r>
              <a:rPr lang="en-US" b="1" dirty="0">
                <a:latin typeface="Times New Roman" panose="02020603050405020304" pitchFamily="18" charset="0"/>
                <a:cs typeface="Times New Roman" panose="02020603050405020304" pitchFamily="18" charset="0"/>
              </a:rPr>
              <a:t>SUMIF</a:t>
            </a:r>
            <a:r>
              <a:rPr lang="en-US" dirty="0">
                <a:latin typeface="Times New Roman" panose="02020603050405020304" pitchFamily="18" charset="0"/>
                <a:cs typeface="Times New Roman" panose="02020603050405020304" pitchFamily="18" charset="0"/>
              </a:rPr>
              <a:t> function (two arguments).</a:t>
            </a:r>
          </a:p>
        </p:txBody>
      </p:sp>
      <p:pic>
        <p:nvPicPr>
          <p:cNvPr id="5122" name="Picture 2" descr="Sumif Function, Two Argum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438400"/>
            <a:ext cx="57531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147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335973" y="1651928"/>
            <a:ext cx="8305800"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To sum cells based on multiple criteria (for example, blue and green), use the following </a:t>
            </a:r>
            <a:r>
              <a:rPr lang="en-US" b="1" dirty="0">
                <a:latin typeface="Times New Roman" panose="02020603050405020304" pitchFamily="18" charset="0"/>
                <a:cs typeface="Times New Roman" panose="02020603050405020304" pitchFamily="18" charset="0"/>
              </a:rPr>
              <a:t>SUMIFS</a:t>
            </a:r>
            <a:r>
              <a:rPr lang="en-US" dirty="0">
                <a:latin typeface="Times New Roman" panose="02020603050405020304" pitchFamily="18" charset="0"/>
                <a:cs typeface="Times New Roman" panose="02020603050405020304" pitchFamily="18" charset="0"/>
              </a:rPr>
              <a:t> function (first argument is the range to sum).</a:t>
            </a:r>
          </a:p>
        </p:txBody>
      </p:sp>
      <p:pic>
        <p:nvPicPr>
          <p:cNvPr id="4100" name="Picture 4" descr="Sumifs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079205"/>
            <a:ext cx="5753100" cy="2000251"/>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Sum Functions -  the SUMIFS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538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213011" y="1551709"/>
            <a:ext cx="8305800" cy="1077218"/>
          </a:xfrm>
          <a:prstGeom prst="rect">
            <a:avLst/>
          </a:prstGeom>
        </p:spPr>
        <p:txBody>
          <a:bodyPr wrap="square">
            <a:spAutoFit/>
          </a:bodyPr>
          <a:lstStyle/>
          <a:p>
            <a:pPr>
              <a:spcAft>
                <a:spcPts val="1200"/>
              </a:spcAft>
            </a:pPr>
            <a:r>
              <a:rPr lang="tr-TR" dirty="0">
                <a:latin typeface="Times New Roman" panose="02020603050405020304" pitchFamily="18" charset="0"/>
                <a:cs typeface="Times New Roman" panose="02020603050405020304" pitchFamily="18" charset="0"/>
              </a:rPr>
              <a:t>The </a:t>
            </a:r>
            <a:r>
              <a:rPr lang="tr-TR" b="1" dirty="0">
                <a:latin typeface="Times New Roman" panose="02020603050405020304" pitchFamily="18" charset="0"/>
                <a:cs typeface="Times New Roman" panose="02020603050405020304" pitchFamily="18" charset="0"/>
              </a:rPr>
              <a:t>IF </a:t>
            </a:r>
            <a:r>
              <a:rPr lang="tr-TR" dirty="0">
                <a:latin typeface="Times New Roman" panose="02020603050405020304" pitchFamily="18" charset="0"/>
                <a:cs typeface="Times New Roman" panose="02020603050405020304" pitchFamily="18" charset="0"/>
              </a:rPr>
              <a:t>Function</a:t>
            </a:r>
            <a:r>
              <a:rPr lang="tr-TR" b="1"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checks</a:t>
            </a:r>
            <a:r>
              <a:rPr lang="tr-TR" b="1" dirty="0">
                <a:latin typeface="Times New Roman" panose="02020603050405020304" pitchFamily="18" charset="0"/>
                <a:cs typeface="Times New Roman" panose="02020603050405020304" pitchFamily="18" charset="0"/>
              </a:rPr>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whether a condition is met, and returns one value if TRUE and another value if FALSE.</a:t>
            </a:r>
            <a:endParaRPr lang="tr-TR"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Select cell C2 and enter the following function.</a:t>
            </a:r>
          </a:p>
        </p:txBody>
      </p:sp>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Logical Functions -  the IF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pic>
        <p:nvPicPr>
          <p:cNvPr id="20482" name="Picture 2" descr="If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313" y="3211655"/>
            <a:ext cx="5753100" cy="10477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87482" y="5105401"/>
            <a:ext cx="8454737"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IF function returns Correct because the value in cell A1 is higher than 10.</a:t>
            </a:r>
          </a:p>
        </p:txBody>
      </p:sp>
    </p:spTree>
    <p:extLst>
      <p:ext uri="{BB962C8B-B14F-4D97-AF65-F5344CB8AC3E}">
        <p14:creationId xmlns:p14="http://schemas.microsoft.com/office/powerpoint/2010/main" val="3232832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204354" y="1544206"/>
            <a:ext cx="8305800" cy="1077218"/>
          </a:xfrm>
          <a:prstGeom prst="rect">
            <a:avLst/>
          </a:prstGeom>
        </p:spPr>
        <p:txBody>
          <a:bodyPr wrap="square">
            <a:spAutoFit/>
          </a:bodyPr>
          <a:lstStyle/>
          <a:p>
            <a:pPr>
              <a:spcAft>
                <a:spcPts val="1200"/>
              </a:spcAft>
            </a:pPr>
            <a:r>
              <a:rPr lang="tr-TR" dirty="0">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Function</a:t>
            </a:r>
            <a:r>
              <a:rPr lang="tr-TR" b="1" dirty="0">
                <a:latin typeface="Times New Roman" panose="02020603050405020304" pitchFamily="18" charset="0"/>
                <a:cs typeface="Times New Roman" panose="02020603050405020304" pitchFamily="18" charset="0"/>
              </a:rPr>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returns TRUE if all conditions are true and returns FALSE if any of the conditions are false.</a:t>
            </a:r>
            <a:endParaRPr lang="tr-TR" dirty="0">
              <a:solidFill>
                <a:schemeClr val="tx1">
                  <a:lumMod val="95000"/>
                  <a:lumOff val="5000"/>
                </a:schemeClr>
              </a:solidFill>
              <a:latin typeface="Times New Roman" panose="02020603050405020304" pitchFamily="18" charset="0"/>
              <a:cs typeface="Times New Roman" panose="02020603050405020304" pitchFamily="18" charset="0"/>
            </a:endParaRPr>
          </a:p>
          <a:p>
            <a:pPr>
              <a:spcAft>
                <a:spcPts val="1200"/>
              </a:spcAft>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Select cell D2 and enter the following</a:t>
            </a:r>
            <a:r>
              <a:rPr lang="tr-TR" dirty="0">
                <a:solidFill>
                  <a:schemeClr val="tx1">
                    <a:lumMod val="95000"/>
                    <a:lumOff val="5000"/>
                  </a:schemeClr>
                </a:solidFill>
                <a:latin typeface="Times New Roman" panose="02020603050405020304" pitchFamily="18" charset="0"/>
                <a:cs typeface="Times New Roman" panose="02020603050405020304" pitchFamily="18" charset="0"/>
              </a:rPr>
              <a:t> formula.</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Logical Functions -  the AND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290945" y="5257800"/>
            <a:ext cx="8454737"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AND function returns FALSE because the value in cell B2 is not higher than 5. As a result the IF function returns Incorrect.</a:t>
            </a:r>
          </a:p>
        </p:txBody>
      </p:sp>
      <p:pic>
        <p:nvPicPr>
          <p:cNvPr id="22530" name="Picture 2" descr="And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745" y="3116406"/>
            <a:ext cx="5753100" cy="1047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151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5863" y="1221041"/>
            <a:ext cx="4191000" cy="1077218"/>
          </a:xfrm>
          <a:prstGeom prst="rect">
            <a:avLst/>
          </a:prstGeom>
        </p:spPr>
        <p:txBody>
          <a:bodyPr wrap="square">
            <a:spAutoFit/>
          </a:bodyPr>
          <a:lstStyle/>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171450">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193963" y="1621150"/>
            <a:ext cx="8305800" cy="923330"/>
          </a:xfrm>
          <a:prstGeom prst="rect">
            <a:avLst/>
          </a:prstGeom>
        </p:spPr>
        <p:txBody>
          <a:bodyPr wrap="square">
            <a:spAutoFit/>
          </a:bodyPr>
          <a:lstStyle/>
          <a:p>
            <a:r>
              <a:rPr lang="tr-TR" dirty="0">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OR </a:t>
            </a:r>
            <a:r>
              <a:rPr lang="tr-TR"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unction</a:t>
            </a:r>
            <a:r>
              <a:rPr lang="tr-TR" dirty="0">
                <a:latin typeface="Times New Roman" panose="02020603050405020304" pitchFamily="18" charset="0"/>
                <a:cs typeface="Times New Roman" panose="02020603050405020304" pitchFamily="18" charset="0"/>
              </a:rPr>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returns TRUE if any of the conditions are TRUE and returns FALSE if all conditions are false.</a:t>
            </a:r>
            <a:endParaRPr lang="tr-TR" dirty="0">
              <a:solidFill>
                <a:schemeClr val="tx1">
                  <a:lumMod val="95000"/>
                  <a:lumOff val="5000"/>
                </a:schemeClr>
              </a:solidFill>
              <a:latin typeface="Times New Roman" panose="02020603050405020304" pitchFamily="18" charset="0"/>
              <a:cs typeface="Times New Roman" panose="02020603050405020304" pitchFamily="18" charset="0"/>
            </a:endParaRPr>
          </a:p>
          <a:p>
            <a:pPr>
              <a:spcAft>
                <a:spcPts val="1200"/>
              </a:spcAft>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Select cell E2 and enter the following formula.</a:t>
            </a:r>
          </a:p>
        </p:txBody>
      </p:sp>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Logical Functions -  the OR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266699" y="5105400"/>
            <a:ext cx="8454737" cy="1200329"/>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OR function returns TRUE because the value in cell A1 is higher than 10. As a result the IF function returns Correct.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General note: the AND </a:t>
            </a:r>
            <a:r>
              <a:rPr lang="en-US" dirty="0" err="1">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OR function can check up to 255 conditions</a:t>
            </a:r>
          </a:p>
        </p:txBody>
      </p:sp>
      <p:pic>
        <p:nvPicPr>
          <p:cNvPr id="23554" name="Picture 2" descr="Or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591" y="3196069"/>
            <a:ext cx="5753100" cy="1047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258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fontScale="90000"/>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AVERAGE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0" y="1651284"/>
            <a:ext cx="7916591" cy="369332"/>
          </a:xfrm>
          <a:prstGeom prst="rect">
            <a:avLst/>
          </a:prstGeom>
        </p:spPr>
        <p:txBody>
          <a:bodyPr wrap="none">
            <a:spAutoFit/>
          </a:bodyPr>
          <a:lstStyle/>
          <a:p>
            <a:r>
              <a:rPr lang="en-US" dirty="0">
                <a:solidFill>
                  <a:prstClr val="black"/>
                </a:solidFill>
                <a:latin typeface="Times New Roman" panose="02020603050405020304" pitchFamily="18" charset="0"/>
                <a:cs typeface="Times New Roman" panose="02020603050405020304" pitchFamily="18" charset="0"/>
              </a:rPr>
              <a:t>To calculate the average of a range of cells, use the </a:t>
            </a:r>
            <a:r>
              <a:rPr lang="tr-TR" dirty="0">
                <a:solidFill>
                  <a:prstClr val="black"/>
                </a:solidFill>
                <a:latin typeface="Times New Roman" panose="02020603050405020304" pitchFamily="18" charset="0"/>
                <a:cs typeface="Times New Roman" panose="02020603050405020304" pitchFamily="18" charset="0"/>
              </a:rPr>
              <a:t>following </a:t>
            </a:r>
            <a:r>
              <a:rPr lang="en-US" b="1" dirty="0">
                <a:solidFill>
                  <a:prstClr val="black"/>
                </a:solidFill>
                <a:latin typeface="Times New Roman" panose="02020603050405020304" pitchFamily="18" charset="0"/>
                <a:cs typeface="Times New Roman" panose="02020603050405020304" pitchFamily="18" charset="0"/>
              </a:rPr>
              <a:t>AVERAGE</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5122" name="Picture 2" descr="Average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745" y="3048000"/>
            <a:ext cx="57531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433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fontScale="90000"/>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AVERAGEIF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44823" y="1598596"/>
            <a:ext cx="8825753" cy="646331"/>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average cells based on one criteria, use the </a:t>
            </a:r>
            <a:r>
              <a:rPr lang="tr-TR" dirty="0">
                <a:solidFill>
                  <a:prstClr val="black"/>
                </a:solidFill>
                <a:latin typeface="Times New Roman" panose="02020603050405020304" pitchFamily="18" charset="0"/>
                <a:cs typeface="Times New Roman" panose="02020603050405020304" pitchFamily="18" charset="0"/>
              </a:rPr>
              <a:t>following </a:t>
            </a:r>
            <a:r>
              <a:rPr lang="en-US" b="1" dirty="0">
                <a:solidFill>
                  <a:prstClr val="black"/>
                </a:solidFill>
                <a:latin typeface="Times New Roman" panose="02020603050405020304" pitchFamily="18" charset="0"/>
                <a:cs typeface="Times New Roman" panose="02020603050405020304" pitchFamily="18" charset="0"/>
              </a:rPr>
              <a:t>AVERAGEIF</a:t>
            </a:r>
            <a:r>
              <a:rPr lang="en-US" dirty="0">
                <a:solidFill>
                  <a:prstClr val="black"/>
                </a:solidFill>
                <a:latin typeface="Times New Roman" panose="02020603050405020304" pitchFamily="18" charset="0"/>
                <a:cs typeface="Times New Roman" panose="02020603050405020304" pitchFamily="18" charset="0"/>
              </a:rPr>
              <a:t> function. </a:t>
            </a:r>
          </a:p>
          <a:p>
            <a:r>
              <a:rPr lang="en-US" dirty="0">
                <a:solidFill>
                  <a:prstClr val="black"/>
                </a:solidFill>
                <a:latin typeface="Times New Roman" panose="02020603050405020304" pitchFamily="18" charset="0"/>
                <a:cs typeface="Times New Roman" panose="02020603050405020304" pitchFamily="18" charset="0"/>
              </a:rPr>
              <a:t>For example, to calculate  the average excluding </a:t>
            </a:r>
            <a:r>
              <a:rPr lang="en-US" dirty="0" err="1">
                <a:solidFill>
                  <a:prstClr val="black"/>
                </a:solidFill>
                <a:latin typeface="Times New Roman" panose="02020603050405020304" pitchFamily="18" charset="0"/>
                <a:cs typeface="Times New Roman" panose="02020603050405020304" pitchFamily="18" charset="0"/>
              </a:rPr>
              <a:t>zeros</a:t>
            </a:r>
            <a:r>
              <a:rPr lang="en-US" dirty="0">
                <a:solidFill>
                  <a:prstClr val="black"/>
                </a:solidFill>
                <a:latin typeface="Times New Roman" panose="02020603050405020304" pitchFamily="18" charset="0"/>
                <a:cs typeface="Times New Roman" panose="02020603050405020304" pitchFamily="18" charset="0"/>
              </a:rPr>
              <a:t>.</a:t>
            </a:r>
          </a:p>
        </p:txBody>
      </p:sp>
      <p:pic>
        <p:nvPicPr>
          <p:cNvPr id="6146" name="Picture 2" descr="Averageif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802082"/>
            <a:ext cx="5753100" cy="12382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4823" y="4701988"/>
            <a:ext cx="2810385" cy="369332"/>
          </a:xfrm>
          <a:prstGeom prst="rect">
            <a:avLst/>
          </a:prstGeom>
        </p:spPr>
        <p:txBody>
          <a:bodyPr wrap="none">
            <a:spAutoFit/>
          </a:bodyPr>
          <a:lstStyle/>
          <a:p>
            <a:r>
              <a:rPr lang="en-US" dirty="0">
                <a:solidFill>
                  <a:prstClr val="black"/>
                </a:solidFill>
                <a:latin typeface="Times New Roman" panose="02020603050405020304" pitchFamily="18" charset="0"/>
                <a:cs typeface="Times New Roman" panose="02020603050405020304" pitchFamily="18" charset="0"/>
              </a:rPr>
              <a:t>Note: &lt;&gt; means not equal to</a:t>
            </a:r>
          </a:p>
        </p:txBody>
      </p:sp>
    </p:spTree>
    <p:extLst>
      <p:ext uri="{BB962C8B-B14F-4D97-AF65-F5344CB8AC3E}">
        <p14:creationId xmlns:p14="http://schemas.microsoft.com/office/powerpoint/2010/main" val="2702932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MEDIAN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13447" y="1623981"/>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median (or middle number), use the </a:t>
            </a:r>
            <a:r>
              <a:rPr lang="tr-TR" dirty="0">
                <a:solidFill>
                  <a:prstClr val="black"/>
                </a:solidFill>
                <a:latin typeface="Times New Roman" panose="02020603050405020304" pitchFamily="18" charset="0"/>
                <a:cs typeface="Times New Roman" panose="02020603050405020304" pitchFamily="18" charset="0"/>
              </a:rPr>
              <a:t>following </a:t>
            </a:r>
            <a:r>
              <a:rPr lang="en-US" b="1" dirty="0">
                <a:solidFill>
                  <a:prstClr val="black"/>
                </a:solidFill>
                <a:latin typeface="Times New Roman" panose="02020603050405020304" pitchFamily="18" charset="0"/>
                <a:cs typeface="Times New Roman" panose="02020603050405020304" pitchFamily="18" charset="0"/>
              </a:rPr>
              <a:t>MEDIAN</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6148" name="Picture 4" descr="Median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667000"/>
            <a:ext cx="5753100" cy="12382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23055" y="4343400"/>
            <a:ext cx="867545" cy="369332"/>
          </a:xfrm>
          <a:prstGeom prst="rect">
            <a:avLst/>
          </a:prstGeom>
        </p:spPr>
        <p:txBody>
          <a:bodyPr wrap="none">
            <a:spAutoFit/>
          </a:bodyPr>
          <a:lstStyle/>
          <a:p>
            <a:r>
              <a:rPr lang="en-US" dirty="0">
                <a:solidFill>
                  <a:prstClr val="black"/>
                </a:solidFill>
              </a:rPr>
              <a:t>Check:</a:t>
            </a:r>
          </a:p>
        </p:txBody>
      </p:sp>
      <p:pic>
        <p:nvPicPr>
          <p:cNvPr id="6150" name="Picture 6" descr="Median Che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5288337"/>
            <a:ext cx="5753100" cy="42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224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MODE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0" y="1644763"/>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most frequently occurring number, use the</a:t>
            </a:r>
            <a:r>
              <a:rPr lang="tr-TR" dirty="0">
                <a:solidFill>
                  <a:prstClr val="black"/>
                </a:solidFill>
                <a:latin typeface="Times New Roman" panose="02020603050405020304" pitchFamily="18" charset="0"/>
                <a:cs typeface="Times New Roman" panose="02020603050405020304" pitchFamily="18" charset="0"/>
              </a:rPr>
              <a:t> following</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MODE</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8194" name="Picture 2" descr="Mode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981325"/>
            <a:ext cx="57531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873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152400" y="0"/>
            <a:ext cx="8825753"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prstClr val="black"/>
                </a:solidFill>
                <a:latin typeface="Times New Roman" panose="02020603050405020304" pitchFamily="18" charset="0"/>
                <a:cs typeface="Times New Roman" panose="02020603050405020304" pitchFamily="18" charset="0"/>
              </a:rPr>
              <a:t>STEDV </a:t>
            </a:r>
            <a:r>
              <a:rPr lang="tr-TR" sz="3200" dirty="0">
                <a:solidFill>
                  <a:prstClr val="black"/>
                </a:solidFill>
                <a:latin typeface="Times New Roman" panose="02020603050405020304" pitchFamily="18" charset="0"/>
                <a:cs typeface="Times New Roman" panose="02020603050405020304" pitchFamily="18" charset="0"/>
              </a:rPr>
              <a:t>F</a:t>
            </a:r>
            <a:r>
              <a:rPr lang="en-US" sz="3200" dirty="0">
                <a:solidFill>
                  <a:prstClr val="black"/>
                </a:solidFill>
                <a:latin typeface="Times New Roman" panose="02020603050405020304" pitchFamily="18" charset="0"/>
                <a:cs typeface="Times New Roman" panose="02020603050405020304" pitchFamily="18" charset="0"/>
              </a:rPr>
              <a:t>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13855" y="1623981"/>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calculate the standard deviation, use the </a:t>
            </a:r>
            <a:r>
              <a:rPr lang="tr-TR" dirty="0">
                <a:solidFill>
                  <a:prstClr val="black"/>
                </a:solidFill>
                <a:latin typeface="Times New Roman" panose="02020603050405020304" pitchFamily="18" charset="0"/>
                <a:cs typeface="Times New Roman" panose="02020603050405020304" pitchFamily="18" charset="0"/>
              </a:rPr>
              <a:t>following </a:t>
            </a:r>
            <a:r>
              <a:rPr lang="en-US" b="1" dirty="0">
                <a:solidFill>
                  <a:prstClr val="black"/>
                </a:solidFill>
                <a:latin typeface="Times New Roman" panose="02020603050405020304" pitchFamily="18" charset="0"/>
                <a:cs typeface="Times New Roman" panose="02020603050405020304" pitchFamily="18" charset="0"/>
              </a:rPr>
              <a:t>STEDV</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9218" name="Picture 2" descr="Stdev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012498"/>
            <a:ext cx="57531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41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MIN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20782" y="1651284"/>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minimum value, use </a:t>
            </a:r>
            <a:r>
              <a:rPr lang="en-US" dirty="0" err="1">
                <a:solidFill>
                  <a:prstClr val="black"/>
                </a:solidFill>
                <a:latin typeface="Times New Roman" panose="02020603050405020304" pitchFamily="18" charset="0"/>
                <a:cs typeface="Times New Roman" panose="02020603050405020304" pitchFamily="18" charset="0"/>
              </a:rPr>
              <a:t>th</a:t>
            </a:r>
            <a:r>
              <a:rPr lang="tr-TR" dirty="0">
                <a:solidFill>
                  <a:prstClr val="black"/>
                </a:solidFill>
                <a:latin typeface="Times New Roman" panose="02020603050405020304" pitchFamily="18" charset="0"/>
                <a:cs typeface="Times New Roman" panose="02020603050405020304" pitchFamily="18" charset="0"/>
              </a:rPr>
              <a:t>e </a:t>
            </a:r>
            <a:r>
              <a:rPr lang="en-US" dirty="0">
                <a:solidFill>
                  <a:prstClr val="black"/>
                </a:solidFill>
                <a:latin typeface="Times New Roman" panose="02020603050405020304" pitchFamily="18" charset="0"/>
                <a:cs typeface="Times New Roman" panose="02020603050405020304" pitchFamily="18" charset="0"/>
              </a:rPr>
              <a:t>e</a:t>
            </a:r>
            <a:r>
              <a:rPr lang="tr-TR" dirty="0">
                <a:solidFill>
                  <a:prstClr val="black"/>
                </a:solidFill>
                <a:latin typeface="Times New Roman" panose="02020603050405020304" pitchFamily="18" charset="0"/>
                <a:cs typeface="Times New Roman" panose="02020603050405020304" pitchFamily="18" charset="0"/>
              </a:rPr>
              <a:t>following</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MIN</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10242" name="Picture 2" descr="Min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727" y="3200400"/>
            <a:ext cx="57531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3101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MAX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39832" y="1651284"/>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maximum value, use the</a:t>
            </a:r>
            <a:r>
              <a:rPr lang="tr-TR" dirty="0">
                <a:solidFill>
                  <a:prstClr val="black"/>
                </a:solidFill>
                <a:latin typeface="Times New Roman" panose="02020603050405020304" pitchFamily="18" charset="0"/>
                <a:cs typeface="Times New Roman" panose="02020603050405020304" pitchFamily="18" charset="0"/>
              </a:rPr>
              <a:t> following</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MAX</a:t>
            </a:r>
            <a:r>
              <a:rPr lang="en-US" dirty="0">
                <a:solidFill>
                  <a:prstClr val="black"/>
                </a:solidFill>
                <a:latin typeface="Times New Roman" panose="02020603050405020304" pitchFamily="18" charset="0"/>
                <a:cs typeface="Times New Roman" panose="02020603050405020304" pitchFamily="18" charset="0"/>
              </a:rPr>
              <a:t> function.</a:t>
            </a:r>
          </a:p>
        </p:txBody>
      </p:sp>
      <p:pic>
        <p:nvPicPr>
          <p:cNvPr id="11266" name="Picture 2" descr="Max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895600"/>
            <a:ext cx="57531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753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a:t>
            </a:r>
            <a:r>
              <a:rPr lang="tr-TR" sz="3200" dirty="0">
                <a:solidFill>
                  <a:schemeClr val="tx1"/>
                </a:solidFill>
                <a:latin typeface="Times New Roman" panose="02020603050405020304" pitchFamily="18" charset="0"/>
                <a:cs typeface="Times New Roman" panose="02020603050405020304" pitchFamily="18" charset="0"/>
              </a:rPr>
              <a:t> the</a:t>
            </a:r>
            <a:r>
              <a:rPr lang="en-US" sz="3200" dirty="0">
                <a:solidFill>
                  <a:schemeClr val="tx1"/>
                </a:solidFill>
                <a:latin typeface="Times New Roman" panose="02020603050405020304" pitchFamily="18" charset="0"/>
                <a:cs typeface="Times New Roman" panose="02020603050405020304" pitchFamily="18" charset="0"/>
              </a:rPr>
              <a:t> LARGE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136717" y="1638557"/>
            <a:ext cx="8825753" cy="646331"/>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third largest number, use the </a:t>
            </a:r>
            <a:r>
              <a:rPr lang="tr-TR" dirty="0">
                <a:solidFill>
                  <a:prstClr val="black"/>
                </a:solidFill>
                <a:latin typeface="Times New Roman" panose="02020603050405020304" pitchFamily="18" charset="0"/>
                <a:cs typeface="Times New Roman" panose="02020603050405020304" pitchFamily="18" charset="0"/>
              </a:rPr>
              <a:t>following </a:t>
            </a:r>
            <a:r>
              <a:rPr lang="en-US" b="1" dirty="0">
                <a:solidFill>
                  <a:prstClr val="black"/>
                </a:solidFill>
                <a:latin typeface="Times New Roman" panose="02020603050405020304" pitchFamily="18" charset="0"/>
                <a:cs typeface="Times New Roman" panose="02020603050405020304" pitchFamily="18" charset="0"/>
              </a:rPr>
              <a:t>LARGE</a:t>
            </a:r>
            <a:r>
              <a:rPr lang="en-US" dirty="0">
                <a:solidFill>
                  <a:prstClr val="black"/>
                </a:solidFill>
                <a:latin typeface="Times New Roman" panose="02020603050405020304" pitchFamily="18" charset="0"/>
                <a:cs typeface="Times New Roman" panose="02020603050405020304" pitchFamily="18" charset="0"/>
              </a:rPr>
              <a:t> function.</a:t>
            </a:r>
          </a:p>
          <a:p>
            <a:endParaRPr lang="en-US" dirty="0">
              <a:solidFill>
                <a:prstClr val="black"/>
              </a:solidFill>
              <a:latin typeface="Times New Roman" panose="02020603050405020304" pitchFamily="18" charset="0"/>
              <a:cs typeface="Times New Roman" panose="02020603050405020304" pitchFamily="18" charset="0"/>
            </a:endParaRPr>
          </a:p>
        </p:txBody>
      </p:sp>
      <p:pic>
        <p:nvPicPr>
          <p:cNvPr id="12290" name="Picture 2" descr="Large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618" y="2948009"/>
            <a:ext cx="5753100" cy="12382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9327" y="4888468"/>
            <a:ext cx="867545" cy="369332"/>
          </a:xfrm>
          <a:prstGeom prst="rect">
            <a:avLst/>
          </a:prstGeom>
        </p:spPr>
        <p:txBody>
          <a:bodyPr wrap="none">
            <a:spAutoFit/>
          </a:bodyPr>
          <a:lstStyle/>
          <a:p>
            <a:r>
              <a:rPr lang="en-US" dirty="0">
                <a:solidFill>
                  <a:prstClr val="black"/>
                </a:solidFill>
              </a:rPr>
              <a:t>Check:</a:t>
            </a:r>
          </a:p>
        </p:txBody>
      </p:sp>
      <p:pic>
        <p:nvPicPr>
          <p:cNvPr id="12292" name="Picture 4" descr="Large Che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618" y="5257800"/>
            <a:ext cx="5753100" cy="42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863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7543800" cy="609600"/>
          </a:xfrm>
        </p:spPr>
        <p:txBody>
          <a:bodyPr>
            <a:normAutofit/>
          </a:bodyPr>
          <a:lstStyle/>
          <a:p>
            <a:pPr algn="ctr"/>
            <a:r>
              <a:rPr lang="tr-TR" sz="3200" dirty="0">
                <a:solidFill>
                  <a:schemeClr val="tx1"/>
                </a:solidFill>
                <a:latin typeface="Times New Roman" panose="02020603050405020304" pitchFamily="18" charset="0"/>
                <a:cs typeface="Times New Roman" panose="02020603050405020304" pitchFamily="18" charset="0"/>
              </a:rPr>
              <a:t>Statistical Functions</a:t>
            </a:r>
            <a:r>
              <a:rPr lang="en-US" sz="3200" dirty="0">
                <a:solidFill>
                  <a:schemeClr val="tx1"/>
                </a:solidFill>
                <a:latin typeface="Times New Roman" panose="02020603050405020304" pitchFamily="18" charset="0"/>
                <a:cs typeface="Times New Roman" panose="02020603050405020304" pitchFamily="18" charset="0"/>
              </a:rPr>
              <a:t> – </a:t>
            </a:r>
            <a:r>
              <a:rPr lang="tr-TR" sz="3200" dirty="0">
                <a:solidFill>
                  <a:schemeClr val="tx1"/>
                </a:solidFill>
                <a:latin typeface="Times New Roman" panose="02020603050405020304" pitchFamily="18" charset="0"/>
                <a:cs typeface="Times New Roman" panose="02020603050405020304" pitchFamily="18" charset="0"/>
              </a:rPr>
              <a:t>the </a:t>
            </a:r>
            <a:r>
              <a:rPr lang="en-US" sz="3200" dirty="0">
                <a:solidFill>
                  <a:schemeClr val="tx1"/>
                </a:solidFill>
                <a:latin typeface="Times New Roman" panose="02020603050405020304" pitchFamily="18" charset="0"/>
                <a:cs typeface="Times New Roman" panose="02020603050405020304" pitchFamily="18" charset="0"/>
              </a:rPr>
              <a:t>SMALL Function</a:t>
            </a:r>
            <a:endParaRPr lang="en-US" sz="3200" dirty="0">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13855" y="1647762"/>
            <a:ext cx="8825753" cy="369332"/>
          </a:xfrm>
          <a:prstGeom prst="rect">
            <a:avLst/>
          </a:prstGeom>
        </p:spPr>
        <p:txBody>
          <a:bodyPr wrap="square">
            <a:spAutoFit/>
          </a:bodyPr>
          <a:lstStyle/>
          <a:p>
            <a:r>
              <a:rPr lang="en-US" dirty="0">
                <a:solidFill>
                  <a:prstClr val="black"/>
                </a:solidFill>
                <a:latin typeface="Times New Roman" panose="02020603050405020304" pitchFamily="18" charset="0"/>
                <a:cs typeface="Times New Roman" panose="02020603050405020304" pitchFamily="18" charset="0"/>
              </a:rPr>
              <a:t>To find the second smallest number, use the</a:t>
            </a:r>
            <a:r>
              <a:rPr lang="tr-TR" dirty="0">
                <a:solidFill>
                  <a:prstClr val="black"/>
                </a:solidFill>
                <a:latin typeface="Times New Roman" panose="02020603050405020304" pitchFamily="18" charset="0"/>
                <a:cs typeface="Times New Roman" panose="02020603050405020304" pitchFamily="18" charset="0"/>
              </a:rPr>
              <a:t> following</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SMALL</a:t>
            </a:r>
            <a:r>
              <a:rPr lang="en-US" dirty="0">
                <a:solidFill>
                  <a:prstClr val="black"/>
                </a:solidFill>
                <a:latin typeface="Times New Roman" panose="02020603050405020304" pitchFamily="18" charset="0"/>
                <a:cs typeface="Times New Roman" panose="02020603050405020304" pitchFamily="18" charset="0"/>
              </a:rPr>
              <a:t> function</a:t>
            </a:r>
          </a:p>
        </p:txBody>
      </p:sp>
      <p:sp>
        <p:nvSpPr>
          <p:cNvPr id="3" name="Rectangle 2"/>
          <p:cNvSpPr/>
          <p:nvPr/>
        </p:nvSpPr>
        <p:spPr>
          <a:xfrm>
            <a:off x="457200" y="4798413"/>
            <a:ext cx="867545" cy="369332"/>
          </a:xfrm>
          <a:prstGeom prst="rect">
            <a:avLst/>
          </a:prstGeom>
        </p:spPr>
        <p:txBody>
          <a:bodyPr wrap="none">
            <a:spAutoFit/>
          </a:bodyPr>
          <a:lstStyle/>
          <a:p>
            <a:r>
              <a:rPr lang="en-US" dirty="0">
                <a:solidFill>
                  <a:prstClr val="black"/>
                </a:solidFill>
              </a:rPr>
              <a:t>Check:</a:t>
            </a:r>
          </a:p>
        </p:txBody>
      </p:sp>
      <p:pic>
        <p:nvPicPr>
          <p:cNvPr id="13314" name="Picture 2" descr="Small 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421" y="3352800"/>
            <a:ext cx="575310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Small Che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4421" y="5181600"/>
            <a:ext cx="5753100" cy="42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151465"/>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2987</Words>
  <Application>Microsoft Macintosh PowerPoint</Application>
  <PresentationFormat>Presentazione su schermo (4:3)</PresentationFormat>
  <Paragraphs>260</Paragraphs>
  <Slides>41</Slides>
  <Notes>25</Notes>
  <HiddenSlides>0</HiddenSlides>
  <MMClips>0</MMClips>
  <ScaleCrop>false</ScaleCrop>
  <HeadingPairs>
    <vt:vector size="6" baseType="variant">
      <vt:variant>
        <vt:lpstr>Caratteri utilizzati</vt:lpstr>
      </vt:variant>
      <vt:variant>
        <vt:i4>6</vt:i4>
      </vt:variant>
      <vt:variant>
        <vt:lpstr>Tema</vt:lpstr>
      </vt:variant>
      <vt:variant>
        <vt:i4>3</vt:i4>
      </vt:variant>
      <vt:variant>
        <vt:lpstr>Titoli diapositive</vt:lpstr>
      </vt:variant>
      <vt:variant>
        <vt:i4>41</vt:i4>
      </vt:variant>
    </vt:vector>
  </HeadingPairs>
  <TitlesOfParts>
    <vt:vector size="50" baseType="lpstr">
      <vt:lpstr>Arial</vt:lpstr>
      <vt:lpstr>Calibri</vt:lpstr>
      <vt:lpstr>Constantia</vt:lpstr>
      <vt:lpstr>Times New Roman</vt:lpstr>
      <vt:lpstr>Wingdings</vt:lpstr>
      <vt:lpstr>Wingdings 2</vt:lpstr>
      <vt:lpstr>Custom Design</vt:lpstr>
      <vt:lpstr>Office Theme</vt:lpstr>
      <vt:lpstr>Flow</vt:lpstr>
      <vt:lpstr>Presentazione standard di PowerPoint</vt:lpstr>
      <vt:lpstr>Summary of the Last week</vt:lpstr>
      <vt:lpstr>Learning Objectives</vt:lpstr>
      <vt:lpstr>Outlines</vt:lpstr>
      <vt:lpstr>Formulas and Functions</vt:lpstr>
      <vt:lpstr>Entering a Formula</vt:lpstr>
      <vt:lpstr>Editing a Formula</vt:lpstr>
      <vt:lpstr>Operator Precedence</vt:lpstr>
      <vt:lpstr>Copying/Pasting a Formula</vt:lpstr>
      <vt:lpstr>Copying/Pasting a Formula</vt:lpstr>
      <vt:lpstr>Copying/Pasting a Formula</vt:lpstr>
      <vt:lpstr>Copying/Pasting a Formula</vt:lpstr>
      <vt:lpstr>Paste Options - the Paste Option</vt:lpstr>
      <vt:lpstr>Paste Options - the Values Option</vt:lpstr>
      <vt:lpstr>Paste Options - the Formulas Option</vt:lpstr>
      <vt:lpstr>Paste Options – the Formatting Option</vt:lpstr>
      <vt:lpstr>Paste Options – the Paste Special Option</vt:lpstr>
      <vt:lpstr>Paste Options – the Paste Special Option</vt:lpstr>
      <vt:lpstr>Inserting a Function</vt:lpstr>
      <vt:lpstr>Inserting a Function</vt:lpstr>
      <vt:lpstr>Inserting a Function</vt:lpstr>
      <vt:lpstr>Inserting a Function</vt:lpstr>
      <vt:lpstr>Inserting a Function</vt:lpstr>
      <vt:lpstr>Count Functions- the COUNT Function</vt:lpstr>
      <vt:lpstr>Count Functions – the COUNTIF Function</vt:lpstr>
      <vt:lpstr>Count Functions – the COUNTIFS Function</vt:lpstr>
      <vt:lpstr>Sum Functions -  the SUM Function</vt:lpstr>
      <vt:lpstr>Sum Functions -  the SUMIF Function</vt:lpstr>
      <vt:lpstr>Sum Functions -  the SUMIFS Function</vt:lpstr>
      <vt:lpstr>Logical Functions -  the IF Function</vt:lpstr>
      <vt:lpstr>Logical Functions -  the AND Function</vt:lpstr>
      <vt:lpstr>Logical Functions -  the OR Function</vt:lpstr>
      <vt:lpstr>Statistical Functions – the AVERAGE Function</vt:lpstr>
      <vt:lpstr>Statistical Functions – the AVERAGEIF Function</vt:lpstr>
      <vt:lpstr>Statistical Functions – the MEDIAN Function</vt:lpstr>
      <vt:lpstr>Statistical Functions – the MODE Function</vt:lpstr>
      <vt:lpstr>Statistical Functions – the STEDV Function</vt:lpstr>
      <vt:lpstr>Statistical Functions – the MIN Function</vt:lpstr>
      <vt:lpstr>Statistical Functions – the MAX Function</vt:lpstr>
      <vt:lpstr>Statistical Functions – the LARGE Function</vt:lpstr>
      <vt:lpstr>Statistical Functions – the SMALL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dc:creator>
  <cp:lastModifiedBy>David Barilla</cp:lastModifiedBy>
  <cp:revision>192</cp:revision>
  <cp:lastPrinted>2014-11-24T14:04:23Z</cp:lastPrinted>
  <dcterms:created xsi:type="dcterms:W3CDTF">2006-08-16T00:00:00Z</dcterms:created>
  <dcterms:modified xsi:type="dcterms:W3CDTF">2023-05-12T07:44:07Z</dcterms:modified>
</cp:coreProperties>
</file>